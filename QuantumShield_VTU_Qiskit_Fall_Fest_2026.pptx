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sz="1150" b="1" i="0">
                <a:solidFill>
                  <a:srgbClr val="0F172A"/>
                </a:solidFill>
                <a:latin typeface="Calibri"/>
              </a:rPr>
              <a:t>QuantumShield: Autonomous Post-Quantum Threat Intelligence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sz="1150" b="1" i="0">
                <a:solidFill>
                  <a:srgbClr val="0F172A"/>
                </a:solidFill>
                <a:latin typeface="Calibri"/>
              </a:rPr>
              <a:t>Quantum Cybersecurity &amp; FinTech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sz="1200" b="1" i="0">
                <a:solidFill>
                  <a:srgbClr val="0F172A"/>
                </a:solidFill>
                <a:latin typeface="Calibri"/>
              </a:rPr>
              <a:t>Sri Medha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sz="1200" b="1" i="0">
                <a:solidFill>
                  <a:srgbClr val="0F172A"/>
                </a:solidFill>
                <a:latin typeface="Calibri"/>
              </a:rPr>
              <a:t>Davula Akhil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sz="1100" b="1" i="0">
                <a:solidFill>
                  <a:srgbClr val="0F172A"/>
                </a:solidFill>
                <a:latin typeface="Calibri"/>
              </a:rPr>
              <a:t>akhildavula964@gmail.com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sz="1150" b="1" i="0">
                <a:solidFill>
                  <a:srgbClr val="0F172A"/>
                </a:solidFill>
                <a:latin typeface="Calibri"/>
              </a:rPr>
              <a:t>Davula Akhil  •  Team Sri Medha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sz="1050" b="1" i="0">
                <a:solidFill>
                  <a:srgbClr val="0F172A"/>
                </a:solidFill>
                <a:latin typeface="Calibri"/>
              </a:rPr>
              <a:t>Visvesvaraya Technological University, Belagavi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sz="1200" b="1" i="0">
                <a:solidFill>
                  <a:srgbClr val="0F172A"/>
                </a:solidFill>
                <a:latin typeface="Calibri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1. The Impending Quantum Threat to Financial Infrastructure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Harvest Now, Decrypt Later (HNDL):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Adversaries intercept &amp; hoard encrypted UPI, banking, and SWIFT packets today. Shor's algorithm running on future quantum computers will retroactively break classical RSA-2048 &amp; ECC encryption.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Timeline Urgency: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Financial data requires 10-30 year statutory confidentiality; waiting for cryptanalytically relevant quantum computers (CRQC) before migrating guarantees catastrophic retrospective exposure.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2. Mobile Banking Malware &amp; Phishing Overlay Vectors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Weaponized Android APKs: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Deceptive financial utility and cashback apps silently request high-risk permissions—READ_SMS and RECEIVE_SMS—intercepting bank OTPs in real-time.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Overlay Screen Attacks: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Abusing SYSTEM_ALERT_WINDOW allows rogue apps to draw invisible fake credential harvesters over legitimate banking interfaces.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3. Telemetry Disconnect &amp; Automated Fraud Velocity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Siloed Defenses: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Mobile device security posture is disconnected from transaction risk engines. High-velocity automated micro-transfers executed during odd hours (12 AM–5 AM) evade traditional static rule filters.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Core Project Objectives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Unified Defense Pipeline: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Integrate quantum threat awareness, static mobile APK vulnerability auditing, and live transaction fraud scoring into an autonomous intelligence system.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NIST PQC Implementation: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Implement FIPS 203 ML-KEM (Kyber-768) lattice-based key encapsulation combined with AES-256-GCM to establish quantum-resilient communications.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Quantum Circuit Demonstration: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Build and simulate Shor's period-finding circuit for N=15 in Qiskit 1.4 to empirically demonstrate classical factorization vulnerabilities.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Key Novelty &amp; Technical Innovation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Dynamic Cross-Layer Scoring Matrix: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First-of-its-kind mathematical aggregator weighting APK permission exposure (40%) and transaction anomaly severity (60%) into a unified 0-10 threat score.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Dual-Layer Lattice Vault: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Zero-overhead hybrid cryptographic design offering 100% rejection against ciphertext tampering with sub-2 millisecond latency.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Real-Time Sliding Deque Tracker: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In-memory burst detection identifying automated account-draining campaigns under 60-second micro-windows.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Four-Layer Unified Defense Architecture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Layer 1 — Device Audit (APK Scanner):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Static manifest inspector extracting sensitive permissions (SMS, Accessibility, Overlays) and calculating an endpoint threat profile.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Layer 2 — Transaction Risk Engine: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Multi-factor scoring analyzing transfer volume thresholds, odd-hour timing (12 AM–5 AM), and velocity spikes.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Layer 3 — Quantum Defense Channel: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FIPS 203 ML-KEM key encapsulation deriving symmetric keys via HKDF-SHA256, sealed with AES-256-GCM encryption.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Layer 4 — Unified Threat Aggregator: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Synthesizes multi-vector telemetry into instant incident narratives and automated defensive actions (BLOCK, STEP-UP KYC, ALLOW).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The Quantum Advantage (Complexity Shift)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Exponential to Polynomial Speedup: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Classical General Number Field Sieve requires sub-exponential time O(exp(c·(ln N)^1/3)) to factor RSA moduli; Shor's algorithm achieves polynomial time O((log N)^3).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Lattice Hardness Guarantee: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QuantumShield utilizes Module-LWE (Learning With Errors), an NP-hard lattice problem resistant to both classical and quantum cryptanalysis.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810512"/>
            <a:ext cx="2926080" cy="2697480"/>
          </a:xfrm>
          <a:prstGeom prst="rect">
            <a:avLst/>
          </a:prstGeom>
          <a:noFill/>
          <a:ln/>
        </p:spPr>
        <p:txBody>
          <a:bodyPr wrap="square" lIns="73152" tIns="73152" rIns="73152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sz="1150" b="1" i="0">
                <a:solidFill>
                  <a:srgbClr val="1D4ED8"/>
                </a:solidFill>
                <a:latin typeface="Calibri"/>
              </a:rPr>
              <a:t>Circuit Architecture &amp; Math</a:t>
            </a:r>
            <a:endParaRPr lang="en-US" sz="1200" dirty="0"/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Algorithm: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Shor's Quantum Period-Finding for N=15, base a=7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Qubit Register: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8 Qubits: 4 Counting (q0-q3) + 4 Target (q4-q7)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Superposition: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Hadamard gates H^⊗4 generate 2^4 = 16 states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Mod Exponentiation: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Controlled swap gates compute f(x) = 7^x mod 15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Inverse QFT: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4-qubit QFT† extracts phase into measurement basis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• Factor Extraction: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Yields period r=4. Factors: gcd(7^2 ± 1, 15) → 3 and 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circui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48463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Quantum Computing Core (IBM Qiskit)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Qiskit 1.4 &amp; Qiskit Aer: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Quantum circuit synthesis, gate decomposition, and high-performance AerSimulator backend execution.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Mathematical Solvers: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NumPy &amp; SciPy for matrix state-vector computations, modular arithmetic, and Euclidean GCD continued fractions.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Post-Quantum Cryptography &amp; Transport Security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NIST FIPS 203 ML-KEM: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Kyber-768 lattice-based Key Encapsulation Mechanism providing quantum-safe ephemeral key exchange.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AES-256-GCM &amp; HKDF-SHA256: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Hardware-accelerated authenticated symmetric encryption with RFC 5869 key derivation and 100% bit-flip tamper rejection.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Mobile Endpoint &amp; Transaction Analytics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Androguard Static Parser: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Decompiles and inspects AndroidManifest.xml files to detect SMS, Overlay, and Accessibility abuse vectors.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Sliding Deque Velocity Checker: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Low-latency in-memory tracker identifying automated multi-transaction burst frequencies.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Full-Stack Cloud &amp; Production Testing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Streamlit Reactive Cloud: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24/7 globally hosted dashboard with Three.js 3D threat globe; 80/80 passing pytest automated unit tests.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810512"/>
            <a:ext cx="2926080" cy="2697480"/>
          </a:xfrm>
          <a:prstGeom prst="rect">
            <a:avLst/>
          </a:prstGeom>
          <a:noFill/>
          <a:ln/>
        </p:spPr>
        <p:txBody>
          <a:bodyPr wrap="square" lIns="73152" tIns="73152" rIns="73152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sz="1150" b="1" i="0">
                <a:solidFill>
                  <a:srgbClr val="1D4ED8"/>
                </a:solidFill>
                <a:latin typeface="Calibri"/>
              </a:rPr>
              <a:t>Empirical Benchmarks &amp; Validation</a:t>
            </a:r>
            <a:endParaRPr lang="en-US" sz="1200" dirty="0"/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✔ Period Recovery: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100% success across 2048 shots; peaks at 0, 4, 8, 12 isolated r=4, factoring N=15 into 3 × 5.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✔ Handshake Latency: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&lt; 1.8 milliseconds for keypair generation, encapsulation, and decapsulation—ready for mobile banking.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✔ Tamper Detection: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100% bit-flip rejection via AES-256-GCM authentication tags preventing man-in-the-middle attacks.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✔ Test Pass Rate: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80 out of 80 automated pytest unit tests passing with zero regressions across all modules.</a:t>
            </a:r>
          </a:p>
          <a:p>
            <a:pPr>
              <a:spcAft>
                <a:spcPts val="350"/>
              </a:spcAft>
            </a:pPr>
            <a:r>
              <a:rPr sz="980" b="1" i="0">
                <a:solidFill>
                  <a:srgbClr val="0F172A"/>
                </a:solidFill>
                <a:latin typeface="Calibri"/>
              </a:rPr>
              <a:t>✔ Low False-Positives: </a:t>
            </a:r>
            <a:r>
              <a:rPr sz="919" b="0" i="0">
                <a:solidFill>
                  <a:srgbClr val="1E293B"/>
                </a:solidFill>
                <a:latin typeface="Calibri"/>
              </a:rPr>
              <a:t>Accurately verified legitimate baseline apps while flagging high-risk SMS/overlay spyware.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measurement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48463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Financial Institutions &amp; Digital Payment Gateways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Harvest-Proof Interbank Settling: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Shields RTGS, NEFT, and SWIFT cross-border transactions from hostile state-sponsored Harvest Now, Decrypt Later campaigns.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Drop-In Hybrid TLS Transition: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Enables banks to integrate post-quantum KEM handshakes into existing API bridges without rebuilding core banking ledgers.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Regulatory Data Confidentiality: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Guarantees that sensitive financial transaction archives remain unreadable for statutory 10-30 year retention periods.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Mobile Consumer Protection &amp; Anti-Fraud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OTP &amp; Overlay Interception Shield: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Protects retail banking users against credential theft from rogue utility/cashback APKs before funds leave accounts.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Transparent Risk Narratives: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Furnishes plain-language threat explanations to non-technical users explaining why sideloaded apps are dangerous.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National Security &amp; Compliance Roadmap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NIST FIPS 203 Alignment: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Implements official August 2024 post-quantum standards, positioning institutions ahead of global regulatory mandates.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India National Quantum Mission: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Provides a functional reference architecture supporting India's National Quantum Mission (NQM) cybersecurity goals.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7772400" cy="2697480"/>
          </a:xfrm>
          <a:prstGeom prst="rect">
            <a:avLst/>
          </a:prstGeom>
          <a:noFill/>
          <a:ln/>
        </p:spPr>
        <p:txBody>
          <a:bodyPr wrap="square" tIns="73152" bIns="73152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Key Technical Challenges Addressed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NISQ Coherence Limitations: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Current quantum processors lack fault-tolerant physical qubits for large numbers; resolved via modular simulation verifying core period-finding mechanics.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PQC Key Size Constraints: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Lattice-based public keys are significantly larger than RSA/ECC; mitigated by decoupling key exchange from authenticated bulk payload streaming.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Stealthy APK Obfuscation: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Adversaries conceal malicious intent; counteracted by cross-layer correlation linking static APK permissions directly with dynamic transaction bursts.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Calibri"/>
              </a:rPr>
              <a:t>Future Roadmap &amp; Expansion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IBM Quantum Hardware Execution: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Run Shor's circuits on IBM Quantum Eagle (127-qubit) and Heron (133-qubit) processors via Qiskit Runtime Sampler primitives.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Dynamic Taint-Tracking Sandbox: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Integrate automated Android container emulation with dynamic API hooking alongside static manifest extraction.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Hybrid Graph Neural Networks (GNN):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Deploy quantum-classical GNN models to identify multi-hop money laundering mule networks in real-time.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  •  </a:t>
            </a:r>
            <a:r>
              <a:rPr sz="1019" b="1" i="0">
                <a:solidFill>
                  <a:srgbClr val="0F172A"/>
                </a:solidFill>
                <a:latin typeface="Calibri"/>
              </a:rPr>
              <a:t>Hardware Security Modules (HSM):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Embed ML-KEM cryptographic primitives into dedicated banking hardware security modules.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sz="1150" b="1" i="0">
                <a:solidFill>
                  <a:srgbClr val="0F172A"/>
                </a:solidFill>
                <a:latin typeface="Calibri"/>
              </a:rPr>
              <a:t>github.com/akhil96477/vtu-hc-srimedha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sz="1050" b="1" i="0">
                <a:solidFill>
                  <a:srgbClr val="0F172A"/>
                </a:solidFill>
                <a:latin typeface="Calibri"/>
              </a:rPr>
              <a:t>akhil96477-vtu-hc-srimedha...streamlit.app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