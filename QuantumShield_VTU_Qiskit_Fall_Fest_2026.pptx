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1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y="5143500" cx="9144000"/>
  <p:notesSz cx="5143500" cy="9144000"/>
  <p:defaultTextStyle>
    <a:defPPr lvl="0"/>
    <a:lvl1pPr defTabSz="914400" eaLnBrk="1" hangingPunct="1" latinLnBrk="0" lvl="0" marL="0" rtl="0" algn="l">
      <a:defRPr kern="1200" sz="1800">
        <a:solidFill>
          <a:schemeClr val="tx1"/>
        </a:solidFill>
        <a:latin typeface="+mn-lt"/>
        <a:ea typeface="+mn-ea"/>
        <a:cs typeface="+mn-cs"/>
      </a:defRPr>
    </a:lvl1pPr>
    <a:lvl2pPr defTabSz="914400" eaLnBrk="1" hangingPunct="1" latinLnBrk="0" lvl="1" marL="457200" rtl="0" algn="l">
      <a:defRPr kern="1200" sz="1800">
        <a:solidFill>
          <a:schemeClr val="tx1"/>
        </a:solidFill>
        <a:latin typeface="+mn-lt"/>
        <a:ea typeface="+mn-ea"/>
        <a:cs typeface="+mn-cs"/>
      </a:defRPr>
    </a:lvl2pPr>
    <a:lvl3pPr defTabSz="914400" eaLnBrk="1" hangingPunct="1" latinLnBrk="0" lvl="2" marL="914400" rtl="0" algn="l">
      <a:defRPr kern="1200" sz="1800">
        <a:solidFill>
          <a:schemeClr val="tx1"/>
        </a:solidFill>
        <a:latin typeface="+mn-lt"/>
        <a:ea typeface="+mn-ea"/>
        <a:cs typeface="+mn-cs"/>
      </a:defRPr>
    </a:lvl3pPr>
    <a:lvl4pPr defTabSz="914400" eaLnBrk="1" hangingPunct="1" latinLnBrk="0" lvl="3" marL="1371600" rtl="0" algn="l">
      <a:defRPr kern="1200" sz="1800">
        <a:solidFill>
          <a:schemeClr val="tx1"/>
        </a:solidFill>
        <a:latin typeface="+mn-lt"/>
        <a:ea typeface="+mn-ea"/>
        <a:cs typeface="+mn-cs"/>
      </a:defRPr>
    </a:lvl4pPr>
    <a:lvl5pPr defTabSz="914400" eaLnBrk="1" hangingPunct="1" latinLnBrk="0" lvl="4" marL="1828800" rtl="0" algn="l">
      <a:defRPr kern="1200" sz="1800">
        <a:solidFill>
          <a:schemeClr val="tx1"/>
        </a:solidFill>
        <a:latin typeface="+mn-lt"/>
        <a:ea typeface="+mn-ea"/>
        <a:cs typeface="+mn-cs"/>
      </a:defRPr>
    </a:lvl5pPr>
    <a:lvl6pPr defTabSz="914400" eaLnBrk="1" hangingPunct="1" latinLnBrk="0" lvl="5" marL="2286000" rtl="0" algn="l">
      <a:defRPr kern="1200" sz="1800">
        <a:solidFill>
          <a:schemeClr val="tx1"/>
        </a:solidFill>
        <a:latin typeface="+mn-lt"/>
        <a:ea typeface="+mn-ea"/>
        <a:cs typeface="+mn-cs"/>
      </a:defRPr>
    </a:lvl6pPr>
    <a:lvl7pPr defTabSz="914400" eaLnBrk="1" hangingPunct="1" latinLnBrk="0" lvl="6" marL="2743200" rtl="0" algn="l">
      <a:defRPr kern="1200" sz="1800">
        <a:solidFill>
          <a:schemeClr val="tx1"/>
        </a:solidFill>
        <a:latin typeface="+mn-lt"/>
        <a:ea typeface="+mn-ea"/>
        <a:cs typeface="+mn-cs"/>
      </a:defRPr>
    </a:lvl7pPr>
    <a:lvl8pPr defTabSz="914400" eaLnBrk="1" hangingPunct="1" latinLnBrk="0" lvl="7" marL="3200400" rtl="0" algn="l">
      <a:defRPr kern="1200" sz="1800">
        <a:solidFill>
          <a:schemeClr val="tx1"/>
        </a:solidFill>
        <a:latin typeface="+mn-lt"/>
        <a:ea typeface="+mn-ea"/>
        <a:cs typeface="+mn-cs"/>
      </a:defRPr>
    </a:lvl8pPr>
    <a:lvl9pPr defTabSz="914400" eaLnBrk="1" hangingPunct="1" latinLnBrk="0" lvl="8" marL="3657600" rtl="0" algn="l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1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1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A1F8C-B10B-C84D-94FC-B3DA01C1C208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902761-92A6-8544-9B98-D45CEE3CC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6363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DDE2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BD1F5"/>
          </a:solidFill>
          <a:ln w="12700">
            <a:solidFill>
              <a:srgbClr val="CBD1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3054096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054096" y="658368"/>
            <a:ext cx="3054096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9048" y="658368"/>
            <a:ext cx="3054096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pic>
        <p:nvPicPr>
          <p:cNvPr id="6" name="Image 0" descr="vtu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32688" y="914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50" b="1" dirty="0">
                <a:solidFill>
                  <a:srgbClr val="2E1B5B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ವಿಶ್ವೇಶ್ವರಯ್ಯ ತಾಂತ್ರಿಕ ವಿಶ್ವವಿದ್ಯಾಲಯ, ಬೆಳಗಾವಿ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932688" y="33832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Visvesvaraya Technological University, Belagavi</a:t>
            </a:r>
            <a:endParaRPr lang="en-US" sz="950" dirty="0"/>
          </a:p>
        </p:txBody>
      </p:sp>
      <p:pic>
        <p:nvPicPr>
          <p:cNvPr id="9" name="Image 1" descr="quc_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1104" y="91440"/>
            <a:ext cx="612648" cy="4754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94960" y="10972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2E1B5B"/>
                </a:solidFill>
              </a:rPr>
              <a:t>QISKIT FALL FEST 2026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5394960" y="365760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kern="0" spc="100" dirty="0">
                <a:solidFill>
                  <a:srgbClr val="5B3BA8"/>
                </a:solidFill>
              </a:rPr>
              <a:t>IBM Quantum</a:t>
            </a:r>
            <a:endParaRPr lang="en-US" sz="950" dirty="0"/>
          </a:p>
        </p:txBody>
      </p:sp>
      <p:pic>
        <p:nvPicPr>
          <p:cNvPr id="12" name="Image 2" descr="badge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91440"/>
            <a:ext cx="475488" cy="475488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0" y="4828032"/>
            <a:ext cx="9144000" cy="315468"/>
          </a:xfrm>
          <a:prstGeom prst="rect">
            <a:avLst/>
          </a:prstGeom>
          <a:solidFill>
            <a:srgbClr val="CBD1F5"/>
          </a:solidFill>
          <a:ln w="12700">
            <a:solidFill>
              <a:srgbClr val="CBD1F5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0" y="4828032"/>
            <a:ext cx="3054096" cy="36576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3054096" y="4828032"/>
            <a:ext cx="3054096" cy="36576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099048" y="4828032"/>
            <a:ext cx="3054096" cy="36576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457200" y="4864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2E1B5B"/>
                </a:solidFill>
              </a:rPr>
              <a:t>QISKIT FALL FEST 2026  ·  HOSTED BY VTU, BELAGAVI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5943600" y="48646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200" dirty="0">
                <a:solidFill>
                  <a:srgbClr val="5B3BA8"/>
                </a:solidFill>
              </a:rPr>
              <a:t>27 – 31 OCT 2026</a:t>
            </a:r>
            <a:endParaRPr lang="en-US" sz="8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DDE2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BD1F5"/>
          </a:solidFill>
          <a:ln w="12700">
            <a:solidFill>
              <a:srgbClr val="CBD1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3054096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054096" y="658368"/>
            <a:ext cx="3054096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9048" y="658368"/>
            <a:ext cx="3054096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pic>
        <p:nvPicPr>
          <p:cNvPr id="6" name="Image 0" descr="vtu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32688" y="914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50" b="1" dirty="0">
                <a:solidFill>
                  <a:srgbClr val="2E1B5B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ವಿಶ್ವೇಶ್ವರಯ್ಯ ತಾಂತ್ರಿಕ ವಿಶ್ವವಿದ್ಯಾಲಯ, ಬೆಳಗಾವಿ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932688" y="33832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2E1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Visvesvaraya Technological University, Belagavi</a:t>
            </a:r>
            <a:endParaRPr lang="en-US" sz="950" dirty="0"/>
          </a:p>
        </p:txBody>
      </p:sp>
      <p:pic>
        <p:nvPicPr>
          <p:cNvPr id="9" name="Image 1" descr="quc_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1104" y="91440"/>
            <a:ext cx="612648" cy="4754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94960" y="10972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2E1B5B"/>
                </a:solidFill>
              </a:rPr>
              <a:t>QISKIT FALL FEST 2026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5394960" y="365760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kern="0" spc="100" dirty="0">
                <a:solidFill>
                  <a:srgbClr val="5B3BA8"/>
                </a:solidFill>
              </a:rPr>
              <a:t>IBM Quantum</a:t>
            </a:r>
            <a:endParaRPr lang="en-US" sz="950" dirty="0"/>
          </a:p>
        </p:txBody>
      </p:sp>
      <p:pic>
        <p:nvPicPr>
          <p:cNvPr id="12" name="Image 2" descr="badge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91440"/>
            <a:ext cx="475488" cy="475488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0" y="4828032"/>
            <a:ext cx="9144000" cy="315468"/>
          </a:xfrm>
          <a:prstGeom prst="rect">
            <a:avLst/>
          </a:prstGeom>
          <a:solidFill>
            <a:srgbClr val="CBD1F5"/>
          </a:solidFill>
          <a:ln w="12700">
            <a:solidFill>
              <a:srgbClr val="CBD1F5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0" y="4828032"/>
            <a:ext cx="3054096" cy="36576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3054096" y="4828032"/>
            <a:ext cx="3054096" cy="36576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099048" y="4828032"/>
            <a:ext cx="3054096" cy="36576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457200" y="4864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2E1B5B"/>
                </a:solidFill>
              </a:rPr>
              <a:t>QISKIT FALL FEST 2026  ·  HOSTED BY VTU, BELAGAVI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5943600" y="48646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200" dirty="0">
                <a:solidFill>
                  <a:srgbClr val="5B3BA8"/>
                </a:solidFill>
              </a:rPr>
              <a:t>27 – 31 OCT 2026</a:t>
            </a:r>
            <a:endParaRPr lang="en-US" sz="850" dirty="0"/>
          </a:p>
        </p:txBody>
      </p:sp>
      <p:pic>
        <p:nvPicPr>
          <p:cNvPr id="19" name="Image 3" descr="sphe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9560" y="822960"/>
            <a:ext cx="777240" cy="777240"/>
          </a:xfrm>
          <a:prstGeom prst="rect">
            <a:avLst/>
          </a:prstGeom>
        </p:spPr>
      </p:pic>
      <p:pic>
        <p:nvPicPr>
          <p:cNvPr id="20" name="Image 4" descr="bird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0" y="868680"/>
            <a:ext cx="548640" cy="329184"/>
          </a:xfrm>
          <a:prstGeom prst="rect">
            <a:avLst/>
          </a:prstGeom>
        </p:spPr>
      </p:pic>
      <p:pic>
        <p:nvPicPr>
          <p:cNvPr id="21" name="Image 5" descr="bird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3720" y="1261872"/>
            <a:ext cx="384048" cy="228600"/>
          </a:xfrm>
          <a:prstGeom prst="rect">
            <a:avLst/>
          </a:prstGeom>
        </p:spPr>
      </p:pic>
      <p:sp>
        <p:nvSpPr>
          <p:cNvPr id="2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914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E863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 PRESENTATION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Qiskit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E8639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 Fest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017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43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Hackathon · Team Details</a:t>
            </a:r>
            <a:endParaRPr lang="en-US" sz="1300" dirty="0"/>
          </a:p>
        </p:txBody>
      </p:sp>
      <p:pic>
        <p:nvPicPr>
          <p:cNvPr id="5" name="Bloch sphere ring" descr="sphe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91840"/>
            <a:ext cx="1371600" cy="1371600"/>
          </a:xfrm>
          <a:prstGeom prst="rect">
            <a:avLst/>
          </a:prstGeom>
        </p:spPr>
      </p:pic>
      <p:pic>
        <p:nvPicPr>
          <p:cNvPr id="6" name="Image 1" descr="bir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8840" y="3429000"/>
            <a:ext cx="731520" cy="438912"/>
          </a:xfrm>
          <a:prstGeom prst="rect">
            <a:avLst/>
          </a:prstGeom>
        </p:spPr>
      </p:pic>
      <p:pic>
        <p:nvPicPr>
          <p:cNvPr id="7" name="Image 2" descr="bird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3977640"/>
            <a:ext cx="502920" cy="301752"/>
          </a:xfrm>
          <a:prstGeom prst="rect">
            <a:avLst/>
          </a:prstGeom>
        </p:spPr>
      </p:pic>
      <p:pic>
        <p:nvPicPr>
          <p:cNvPr id="8" name="Image 3" descr="bird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31720" y="4297680"/>
            <a:ext cx="384048" cy="228600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4023360" y="84124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Participant Details</a:t>
            </a:r>
            <a:endParaRPr lang="en-US" sz="1600" dirty="0"/>
          </a:p>
        </p:txBody>
      </p:sp>
      <p:sp>
        <p:nvSpPr>
          <p:cNvPr id="10" name="Field: PROJECT TITLE"/>
          <p:cNvSpPr/>
          <p:nvPr/>
        </p:nvSpPr>
        <p:spPr>
          <a:xfrm>
            <a:off x="4023360" y="1261872"/>
            <a:ext cx="466344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TITLE</a:t>
            </a:r>
            <a:endParaRPr lang="en-US" sz="900" dirty="0"/>
          </a:p>
          <a:p>
            <a:pPr marL="0" indent="0" algn="l">
              <a:buNone/>
            </a:pPr>
            <a:r>
              <a:rPr sz="1150" b="1" i="0">
                <a:solidFill>
                  <a:srgbClr val="0F172A"/>
                </a:solidFill>
                <a:latin typeface="Calibri"/>
              </a:rPr>
              <a:t>QuantumShield: Autonomous Post-Quantum Threat Intelligence</a:t>
            </a:r>
            <a:endParaRPr lang="en-US" sz="900" dirty="0"/>
          </a:p>
        </p:txBody>
      </p:sp>
      <p:sp>
        <p:nvSpPr>
          <p:cNvPr id="11" name="Field: TRACK"/>
          <p:cNvSpPr/>
          <p:nvPr/>
        </p:nvSpPr>
        <p:spPr>
          <a:xfrm>
            <a:off x="4023360" y="1865376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</a:t>
            </a:r>
            <a:endParaRPr lang="en-US" sz="900" dirty="0"/>
          </a:p>
          <a:p>
            <a:pPr marL="0" indent="0" algn="l">
              <a:buNone/>
            </a:pPr>
            <a:r>
              <a:rPr sz="1150" b="1" i="0">
                <a:solidFill>
                  <a:srgbClr val="0F172A"/>
                </a:solidFill>
                <a:latin typeface="Calibri"/>
              </a:rPr>
              <a:t>Quantum Cybersecurity &amp; FinTech</a:t>
            </a:r>
            <a:endParaRPr lang="en-US" sz="900" dirty="0"/>
          </a:p>
        </p:txBody>
      </p:sp>
      <p:sp>
        <p:nvSpPr>
          <p:cNvPr id="12" name="Field: TEAM NAME"/>
          <p:cNvSpPr/>
          <p:nvPr/>
        </p:nvSpPr>
        <p:spPr>
          <a:xfrm>
            <a:off x="6400800" y="1865376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</a:t>
            </a:r>
            <a:endParaRPr lang="en-US" sz="900" dirty="0"/>
          </a:p>
          <a:p>
            <a:pPr marL="0" indent="0" algn="l">
              <a:buNone/>
            </a:pPr>
            <a:r>
              <a:rPr sz="1200" b="1" i="0">
                <a:solidFill>
                  <a:srgbClr val="0F172A"/>
                </a:solidFill>
                <a:latin typeface="Calibri"/>
              </a:rPr>
              <a:t>Sri Medha</a:t>
            </a:r>
            <a:endParaRPr lang="en-US" sz="900" dirty="0"/>
          </a:p>
        </p:txBody>
      </p:sp>
      <p:sp>
        <p:nvSpPr>
          <p:cNvPr id="13" name="Field: TEAM LEADER"/>
          <p:cNvSpPr/>
          <p:nvPr/>
        </p:nvSpPr>
        <p:spPr>
          <a:xfrm>
            <a:off x="4023360" y="2468880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LEADER</a:t>
            </a:r>
            <a:endParaRPr lang="en-US" sz="900" dirty="0"/>
          </a:p>
          <a:p>
            <a:pPr marL="0" indent="0" algn="l">
              <a:buNone/>
            </a:pPr>
            <a:r>
              <a:rPr sz="1200" b="1" i="0">
                <a:solidFill>
                  <a:srgbClr val="0F172A"/>
                </a:solidFill>
                <a:latin typeface="Calibri"/>
              </a:rPr>
              <a:t>Davula Akhil</a:t>
            </a:r>
            <a:endParaRPr lang="en-US" sz="900" dirty="0"/>
          </a:p>
        </p:txBody>
      </p:sp>
      <p:sp>
        <p:nvSpPr>
          <p:cNvPr id="14" name="Field: EMAIL / CONTACT"/>
          <p:cNvSpPr/>
          <p:nvPr/>
        </p:nvSpPr>
        <p:spPr>
          <a:xfrm>
            <a:off x="6400800" y="2468880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/ CONTACT</a:t>
            </a:r>
            <a:endParaRPr lang="en-US" sz="900" dirty="0"/>
          </a:p>
          <a:p>
            <a:pPr marL="0" indent="0" algn="l">
              <a:buNone/>
            </a:pPr>
            <a:r>
              <a:rPr sz="1100" b="1" i="0">
                <a:solidFill>
                  <a:srgbClr val="0F172A"/>
                </a:solidFill>
                <a:latin typeface="Calibri"/>
              </a:rPr>
              <a:t>akhildavula964@gmail.com</a:t>
            </a:r>
            <a:endParaRPr lang="en-US" sz="900" dirty="0"/>
          </a:p>
        </p:txBody>
      </p:sp>
      <p:sp>
        <p:nvSpPr>
          <p:cNvPr id="15" name="Field: TEAM MEMBERS"/>
          <p:cNvSpPr/>
          <p:nvPr/>
        </p:nvSpPr>
        <p:spPr>
          <a:xfrm>
            <a:off x="4023360" y="3072384"/>
            <a:ext cx="46634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900" dirty="0"/>
          </a:p>
          <a:p>
            <a:pPr marL="0" indent="0" algn="l">
              <a:buNone/>
            </a:pPr>
            <a:r>
              <a:rPr sz="1150" b="1" i="0">
                <a:solidFill>
                  <a:srgbClr val="0F172A"/>
                </a:solidFill>
                <a:latin typeface="Calibri"/>
              </a:rPr>
              <a:t>Davula Akhil  •  Team Sri Medha</a:t>
            </a:r>
            <a:endParaRPr lang="en-US" sz="900" dirty="0"/>
          </a:p>
        </p:txBody>
      </p:sp>
      <p:sp>
        <p:nvSpPr>
          <p:cNvPr id="16" name="Field: INSTITUTION / ORGANISATION"/>
          <p:cNvSpPr/>
          <p:nvPr/>
        </p:nvSpPr>
        <p:spPr>
          <a:xfrm>
            <a:off x="4023360" y="3922776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 / ORGANISATION</a:t>
            </a:r>
            <a:endParaRPr lang="en-US" sz="900" dirty="0"/>
          </a:p>
          <a:p>
            <a:pPr marL="0" indent="0" algn="l">
              <a:buNone/>
            </a:pPr>
            <a:r>
              <a:rPr sz="1050" b="1" i="0">
                <a:solidFill>
                  <a:srgbClr val="0F172A"/>
                </a:solidFill>
                <a:latin typeface="Calibri"/>
              </a:rPr>
              <a:t>Visvesvaraya Technological University, Belagavi</a:t>
            </a:r>
            <a:endParaRPr lang="en-US" sz="900" dirty="0"/>
          </a:p>
        </p:txBody>
      </p:sp>
      <p:sp>
        <p:nvSpPr>
          <p:cNvPr id="17" name="Field: COUNTRY"/>
          <p:cNvSpPr/>
          <p:nvPr/>
        </p:nvSpPr>
        <p:spPr>
          <a:xfrm>
            <a:off x="6400800" y="3922776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  <a:endParaRPr lang="en-US" sz="900" dirty="0"/>
          </a:p>
          <a:p>
            <a:pPr marL="0" indent="0" algn="l">
              <a:buNone/>
            </a:pPr>
            <a:r>
              <a:rPr sz="1200" b="1" i="0">
                <a:solidFill>
                  <a:srgbClr val="0F172A"/>
                </a:solidFill>
                <a:latin typeface="Calibri"/>
              </a:rPr>
              <a:t>India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Statement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  <p:txBody>
          <a:bodyPr/>
          <a:p/>
        </p:txBody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  <p:txBody>
          <a:bodyPr/>
          <a:p/>
        </p:txBody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  <p:txBody>
          <a:bodyPr/>
          <a:p/>
        </p:txBody>
      </p:sp>
      <p:sp>
        <p:nvSpPr>
          <p:cNvPr id="6" name="Content card"/>
          <p:cNvSpPr/>
          <p:nvPr/>
        </p:nvSpPr>
        <p:spPr>
          <a:xfrm>
            <a:off x="457200" y="1691640"/>
            <a:ext cx="822960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  <p:txBody>
          <a:bodyPr/>
          <a:p/>
        </p:txBody>
      </p:sp>
      <p:sp>
        <p:nvSpPr>
          <p:cNvPr id="7" name="Card accent"/>
          <p:cNvSpPr/>
          <p:nvPr/>
        </p:nvSpPr>
        <p:spPr>
          <a:xfrm>
            <a:off x="685800" y="1691640"/>
            <a:ext cx="822960" cy="54864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7772400" cy="2697480"/>
          </a:xfrm>
          <a:prstGeom prst="rect">
            <a:avLst/>
          </a:prstGeom>
          <a:noFill/>
          <a:ln/>
        </p:spPr>
        <p:txBody>
          <a:bodyPr wrap="square" tIns="73152" bIns="73152" rtlCol="0" anchor="t"/>
          <a:lstStyle/>
          <a:p>
            <a:pPr marL="0" indent="0">
              <a:buNone/>
            </a:pPr>
            <a:endParaRPr lang="en-US" sz="1200" dirty="0"/>
          </a:p>
          <a:p>
            <a:pPr>
              <a:spcAft>
                <a:spcPts val="300"/>
              </a:spcAft>
            </a:pPr>
            <a:r>
              <a:rPr sz="1150" b="1" i="0">
                <a:solidFill>
                  <a:srgbClr val="1D4ED8"/>
                </a:solidFill>
                <a:latin typeface="Calibri"/>
              </a:rPr>
              <a:t>1. The Impending Quantum Threat to Financial Infrastructure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1D4ED8"/>
                </a:solidFill>
                <a:latin typeface="Calibri"/>
              </a:rPr>
              <a:t>  •  </a:t>
            </a:r>
            <a:r>
              <a:rPr sz="1019" b="1" i="0">
                <a:solidFill>
                  <a:srgbClr val="0F172A"/>
                </a:solidFill>
                <a:latin typeface="Calibri"/>
              </a:rPr>
              <a:t>Harvest Now, Decrypt Later (HNDL): </a:t>
            </a:r>
            <a:r>
              <a:rPr sz="980" b="0" i="0">
                <a:solidFill>
                  <a:srgbClr val="1E293B"/>
                </a:solidFill>
                <a:latin typeface="Calibri"/>
              </a:rPr>
              <a:t>Adversaries intercept &amp; hoard encrypted UPI, banking, and SWIFT packets today. Shor's algorithm running on future quantum computers will retroactively break classical RSA-2048 &amp; ECC encryption.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1D4ED8"/>
                </a:solidFill>
                <a:latin typeface="Calibri"/>
              </a:rPr>
              <a:t>  •  </a:t>
            </a:r>
            <a:r>
              <a:rPr sz="1019" b="1" i="0">
                <a:solidFill>
                  <a:srgbClr val="0F172A"/>
                </a:solidFill>
                <a:latin typeface="Calibri"/>
              </a:rPr>
              <a:t>Timeline Urgency: </a:t>
            </a:r>
            <a:r>
              <a:rPr sz="980" b="0" i="0">
                <a:solidFill>
                  <a:srgbClr val="1E293B"/>
                </a:solidFill>
                <a:latin typeface="Calibri"/>
              </a:rPr>
              <a:t>Financial data requires 10-30 year statutory confidentiality; waiting for cryptanalytically relevant quantum computers (CRQC) before migrating guarantees catastrophic retrospective exposure.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300"/>
              </a:spcAft>
            </a:pPr>
            <a:r>
              <a:rPr sz="1150" b="1" i="0">
                <a:solidFill>
                  <a:srgbClr val="1D4ED8"/>
                </a:solidFill>
                <a:latin typeface="Calibri"/>
              </a:rPr>
              <a:t>2. Mobile Banking Malware &amp; Phishing Overlay Vectors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1D4ED8"/>
                </a:solidFill>
                <a:latin typeface="Calibri"/>
              </a:rPr>
              <a:t>  •  </a:t>
            </a:r>
            <a:r>
              <a:rPr sz="1019" b="1" i="0">
                <a:solidFill>
                  <a:srgbClr val="0F172A"/>
                </a:solidFill>
                <a:latin typeface="Calibri"/>
              </a:rPr>
              <a:t>Weaponized Android APKs: </a:t>
            </a:r>
            <a:r>
              <a:rPr sz="980" b="0" i="0">
                <a:solidFill>
                  <a:srgbClr val="1E293B"/>
                </a:solidFill>
                <a:latin typeface="Calibri"/>
              </a:rPr>
              <a:t>Deceptive financial utility and cashback apps silently request high-risk permissions—READ_SMS and RECEIVE_SMS—intercepting bank OTPs in real-time.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1D4ED8"/>
                </a:solidFill>
                <a:latin typeface="Calibri"/>
              </a:rPr>
              <a:t>  •  </a:t>
            </a:r>
            <a:r>
              <a:rPr sz="1019" b="1" i="0">
                <a:solidFill>
                  <a:srgbClr val="0F172A"/>
                </a:solidFill>
                <a:latin typeface="Calibri"/>
              </a:rPr>
              <a:t>Overlay Screen Attacks: </a:t>
            </a:r>
            <a:r>
              <a:rPr sz="980" b="0" i="0">
                <a:solidFill>
                  <a:srgbClr val="1E293B"/>
                </a:solidFill>
                <a:latin typeface="Calibri"/>
              </a:rPr>
              <a:t>Abusing SYSTEM_ALERT_WINDOW allows rogue apps to draw invisible fake credential harvesters over legitimate banking interfaces.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300"/>
              </a:spcAft>
            </a:pPr>
            <a:r>
              <a:rPr sz="1150" b="1" i="0">
                <a:solidFill>
                  <a:srgbClr val="1D4ED8"/>
                </a:solidFill>
                <a:latin typeface="Calibri"/>
              </a:rPr>
              <a:t>3. Telemetry Disconnect &amp; Automated Fraud Velocity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1D4ED8"/>
                </a:solidFill>
                <a:latin typeface="Calibri"/>
              </a:rPr>
              <a:t>  •  </a:t>
            </a:r>
            <a:r>
              <a:rPr sz="1019" b="1" i="0">
                <a:solidFill>
                  <a:srgbClr val="0F172A"/>
                </a:solidFill>
                <a:latin typeface="Calibri"/>
              </a:rPr>
              <a:t>Siloed Defenses: </a:t>
            </a:r>
            <a:r>
              <a:rPr sz="980" b="0" i="0">
                <a:solidFill>
                  <a:srgbClr val="1E293B"/>
                </a:solidFill>
                <a:latin typeface="Calibri"/>
              </a:rPr>
              <a:t>Mobile device security posture is disconnected from transaction risk engines. High-velocity automated micro-transfers executed during odd hours (12 AM–5 AM) evade traditional static rule filters.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Objectives &amp; Novelty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  <p:txBody>
          <a:bodyPr/>
          <a:p/>
        </p:txBody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  <p:txBody>
          <a:bodyPr/>
          <a:p/>
        </p:txBody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  <p:txBody>
          <a:bodyPr/>
          <a:p/>
        </p:txBody>
      </p:sp>
      <p:sp>
        <p:nvSpPr>
          <p:cNvPr id="6" name="Content card"/>
          <p:cNvSpPr/>
          <p:nvPr/>
        </p:nvSpPr>
        <p:spPr>
          <a:xfrm>
            <a:off x="457200" y="1691640"/>
            <a:ext cx="822960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  <p:txBody>
          <a:bodyPr/>
          <a:p/>
        </p:txBody>
      </p:sp>
      <p:sp>
        <p:nvSpPr>
          <p:cNvPr id="7" name="Card accent"/>
          <p:cNvSpPr/>
          <p:nvPr/>
        </p:nvSpPr>
        <p:spPr>
          <a:xfrm>
            <a:off x="685800" y="1691640"/>
            <a:ext cx="822960" cy="54864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7772400" cy="2697480"/>
          </a:xfrm>
          <a:prstGeom prst="rect">
            <a:avLst/>
          </a:prstGeom>
          <a:noFill/>
          <a:ln/>
        </p:spPr>
        <p:txBody>
          <a:bodyPr wrap="square" tIns="73152" bIns="73152" rtlCol="0" anchor="t"/>
          <a:lstStyle/>
          <a:p>
            <a:pPr marL="0" indent="0">
              <a:buNone/>
            </a:pPr>
            <a:endParaRPr lang="en-US" sz="1200" dirty="0"/>
          </a:p>
          <a:p>
            <a:pPr>
              <a:spcAft>
                <a:spcPts val="300"/>
              </a:spcAft>
            </a:pPr>
            <a:r>
              <a:rPr sz="1150" b="1" i="0">
                <a:solidFill>
                  <a:srgbClr val="1D4ED8"/>
                </a:solidFill>
                <a:latin typeface="Calibri"/>
              </a:rPr>
              <a:t>Core Project Objectives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1D4ED8"/>
                </a:solidFill>
                <a:latin typeface="Calibri"/>
              </a:rPr>
              <a:t>  •  </a:t>
            </a:r>
            <a:r>
              <a:rPr sz="1019" b="1" i="0">
                <a:solidFill>
                  <a:srgbClr val="0F172A"/>
                </a:solidFill>
                <a:latin typeface="Calibri"/>
              </a:rPr>
              <a:t>Unified Defense Pipeline: </a:t>
            </a:r>
            <a:r>
              <a:rPr sz="980" b="0" i="0">
                <a:solidFill>
                  <a:srgbClr val="1E293B"/>
                </a:solidFill>
                <a:latin typeface="Calibri"/>
              </a:rPr>
              <a:t>Integrate quantum threat awareness, static mobile APK vulnerability auditing, and live transaction fraud scoring into an autonomous intelligence system.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1D4ED8"/>
                </a:solidFill>
                <a:latin typeface="Calibri"/>
              </a:rPr>
              <a:t>  •  </a:t>
            </a:r>
            <a:r>
              <a:rPr sz="1019" b="1" i="0">
                <a:solidFill>
                  <a:srgbClr val="0F172A"/>
                </a:solidFill>
                <a:latin typeface="Calibri"/>
              </a:rPr>
              <a:t>NIST PQC Implementation: </a:t>
            </a:r>
            <a:r>
              <a:rPr sz="980" b="0" i="0">
                <a:solidFill>
                  <a:srgbClr val="1E293B"/>
                </a:solidFill>
                <a:latin typeface="Calibri"/>
              </a:rPr>
              <a:t>Implement FIPS 203 ML-KEM (Kyber-768) lattice-based key encapsulation combined with AES-256-GCM to establish quantum-resilient communications.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1D4ED8"/>
                </a:solidFill>
                <a:latin typeface="Calibri"/>
              </a:rPr>
              <a:t>  •  </a:t>
            </a:r>
            <a:r>
              <a:rPr sz="1019" b="1" i="0">
                <a:solidFill>
                  <a:srgbClr val="0F172A"/>
                </a:solidFill>
                <a:latin typeface="Calibri"/>
              </a:rPr>
              <a:t>Quantum Circuit Demonstration: </a:t>
            </a:r>
            <a:r>
              <a:rPr sz="980" b="0" i="0">
                <a:solidFill>
                  <a:srgbClr val="1E293B"/>
                </a:solidFill>
                <a:latin typeface="Calibri"/>
              </a:rPr>
              <a:t>Build and simulate Shor's period-finding circuit for N=15 in Qiskit 1.4 to empirically demonstrate classical factorization vulnerabilities.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300"/>
              </a:spcAft>
            </a:pPr>
            <a:r>
              <a:rPr sz="1150" b="1" i="0">
                <a:solidFill>
                  <a:srgbClr val="1D4ED8"/>
                </a:solidFill>
                <a:latin typeface="Calibri"/>
              </a:rPr>
              <a:t>Key Novelty &amp; Technical Innovation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1D4ED8"/>
                </a:solidFill>
                <a:latin typeface="Calibri"/>
              </a:rPr>
              <a:t>  •  </a:t>
            </a:r>
            <a:r>
              <a:rPr sz="1019" b="1" i="0">
                <a:solidFill>
                  <a:srgbClr val="0F172A"/>
                </a:solidFill>
                <a:latin typeface="Calibri"/>
              </a:rPr>
              <a:t>Dynamic Cross-Layer Scoring Matrix: </a:t>
            </a:r>
            <a:r>
              <a:rPr sz="980" b="0" i="0">
                <a:solidFill>
                  <a:srgbClr val="1E293B"/>
                </a:solidFill>
                <a:latin typeface="Calibri"/>
              </a:rPr>
              <a:t>First-of-its-kind mathematical aggregator weighting APK permission exposure (40%) and transaction anomaly severity (60%) into a unified 0-10 threat score.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1D4ED8"/>
                </a:solidFill>
                <a:latin typeface="Calibri"/>
              </a:rPr>
              <a:t>  •  </a:t>
            </a:r>
            <a:r>
              <a:rPr sz="1019" b="1" i="0">
                <a:solidFill>
                  <a:srgbClr val="0F172A"/>
                </a:solidFill>
                <a:latin typeface="Calibri"/>
              </a:rPr>
              <a:t>Dual-Layer Lattice Vault: </a:t>
            </a:r>
            <a:r>
              <a:rPr sz="980" b="0" i="0">
                <a:solidFill>
                  <a:srgbClr val="1E293B"/>
                </a:solidFill>
                <a:latin typeface="Calibri"/>
              </a:rPr>
              <a:t>Zero-overhead hybrid cryptographic design offering 100% rejection against ciphertext tampering with sub-2 millisecond latency.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1D4ED8"/>
                </a:solidFill>
                <a:latin typeface="Calibri"/>
              </a:rPr>
              <a:t>  •  </a:t>
            </a:r>
            <a:r>
              <a:rPr sz="1019" b="1" i="0">
                <a:solidFill>
                  <a:srgbClr val="0F172A"/>
                </a:solidFill>
                <a:latin typeface="Calibri"/>
              </a:rPr>
              <a:t>Real-Time Sliding Deque Tracker: </a:t>
            </a:r>
            <a:r>
              <a:rPr sz="980" b="0" i="0">
                <a:solidFill>
                  <a:srgbClr val="1E293B"/>
                </a:solidFill>
                <a:latin typeface="Calibri"/>
              </a:rPr>
              <a:t>In-memory burst detection identifying automated account-draining campaigns under 60-second micro-windows.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&amp; Quantum Advantage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  <p:txBody>
          <a:bodyPr/>
          <a:p/>
        </p:txBody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  <p:txBody>
          <a:bodyPr/>
          <a:p/>
        </p:txBody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  <p:txBody>
          <a:bodyPr/>
          <a:p/>
        </p:txBody>
      </p:sp>
      <p:sp>
        <p:nvSpPr>
          <p:cNvPr id="6" name="Content card"/>
          <p:cNvSpPr/>
          <p:nvPr/>
        </p:nvSpPr>
        <p:spPr>
          <a:xfrm>
            <a:off x="457200" y="1691640"/>
            <a:ext cx="822960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  <p:txBody>
          <a:bodyPr/>
          <a:p/>
        </p:txBody>
      </p:sp>
      <p:sp>
        <p:nvSpPr>
          <p:cNvPr id="7" name="Card accent"/>
          <p:cNvSpPr/>
          <p:nvPr/>
        </p:nvSpPr>
        <p:spPr>
          <a:xfrm>
            <a:off x="685800" y="1691640"/>
            <a:ext cx="822960" cy="54864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7772400" cy="2697480"/>
          </a:xfrm>
          <a:prstGeom prst="rect">
            <a:avLst/>
          </a:prstGeom>
          <a:noFill/>
          <a:ln/>
        </p:spPr>
        <p:txBody>
          <a:bodyPr wrap="square" tIns="73152" bIns="73152" rtlCol="0" anchor="t"/>
          <a:lstStyle/>
          <a:p>
            <a:pPr marL="0" indent="0">
              <a:buNone/>
            </a:pPr>
            <a:endParaRPr lang="en-US" sz="1200" dirty="0"/>
          </a:p>
          <a:p>
            <a:pPr>
              <a:spcAft>
                <a:spcPts val="300"/>
              </a:spcAft>
            </a:pPr>
            <a:r>
              <a:rPr sz="1150" b="1" i="0">
                <a:solidFill>
                  <a:srgbClr val="1D4ED8"/>
                </a:solidFill>
                <a:latin typeface="Calibri"/>
              </a:rPr>
              <a:t>Four-Layer Unified Defense Architecture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1D4ED8"/>
                </a:solidFill>
                <a:latin typeface="Calibri"/>
              </a:rPr>
              <a:t>  •  </a:t>
            </a:r>
            <a:r>
              <a:rPr sz="1019" b="1" i="0">
                <a:solidFill>
                  <a:srgbClr val="0F172A"/>
                </a:solidFill>
                <a:latin typeface="Calibri"/>
              </a:rPr>
              <a:t>Layer 1 — Device Audit (APK Scanner): </a:t>
            </a:r>
            <a:r>
              <a:rPr sz="980" b="0" i="0">
                <a:solidFill>
                  <a:srgbClr val="1E293B"/>
                </a:solidFill>
                <a:latin typeface="Calibri"/>
              </a:rPr>
              <a:t>Static manifest inspector extracting sensitive permissions (SMS, Accessibility, Overlays) and calculating an endpoint threat profile.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1D4ED8"/>
                </a:solidFill>
                <a:latin typeface="Calibri"/>
              </a:rPr>
              <a:t>  •  </a:t>
            </a:r>
            <a:r>
              <a:rPr sz="1019" b="1" i="0">
                <a:solidFill>
                  <a:srgbClr val="0F172A"/>
                </a:solidFill>
                <a:latin typeface="Calibri"/>
              </a:rPr>
              <a:t>Layer 2 — Transaction Risk Engine: </a:t>
            </a:r>
            <a:r>
              <a:rPr sz="980" b="0" i="0">
                <a:solidFill>
                  <a:srgbClr val="1E293B"/>
                </a:solidFill>
                <a:latin typeface="Calibri"/>
              </a:rPr>
              <a:t>Multi-factor scoring analyzing transfer volume thresholds, odd-hour timing (12 AM–5 AM), and velocity spikes.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1D4ED8"/>
                </a:solidFill>
                <a:latin typeface="Calibri"/>
              </a:rPr>
              <a:t>  •  </a:t>
            </a:r>
            <a:r>
              <a:rPr sz="1019" b="1" i="0">
                <a:solidFill>
                  <a:srgbClr val="0F172A"/>
                </a:solidFill>
                <a:latin typeface="Calibri"/>
              </a:rPr>
              <a:t>Layer 3 — Quantum Defense Channel: </a:t>
            </a:r>
            <a:r>
              <a:rPr sz="980" b="0" i="0">
                <a:solidFill>
                  <a:srgbClr val="1E293B"/>
                </a:solidFill>
                <a:latin typeface="Calibri"/>
              </a:rPr>
              <a:t>FIPS 203 ML-KEM key encapsulation deriving symmetric keys via HKDF-SHA256, sealed with AES-256-GCM encryption.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1D4ED8"/>
                </a:solidFill>
                <a:latin typeface="Calibri"/>
              </a:rPr>
              <a:t>  •  </a:t>
            </a:r>
            <a:r>
              <a:rPr sz="1019" b="1" i="0">
                <a:solidFill>
                  <a:srgbClr val="0F172A"/>
                </a:solidFill>
                <a:latin typeface="Calibri"/>
              </a:rPr>
              <a:t>Layer 4 — Unified Threat Aggregator: </a:t>
            </a:r>
            <a:r>
              <a:rPr sz="980" b="0" i="0">
                <a:solidFill>
                  <a:srgbClr val="1E293B"/>
                </a:solidFill>
                <a:latin typeface="Calibri"/>
              </a:rPr>
              <a:t>Synthesizes multi-vector telemetry into instant incident narratives and automated defensive actions (BLOCK, STEP-UP KYC, ALLOW).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300"/>
              </a:spcAft>
            </a:pPr>
            <a:r>
              <a:rPr sz="1150" b="1" i="0">
                <a:solidFill>
                  <a:srgbClr val="1D4ED8"/>
                </a:solidFill>
                <a:latin typeface="Calibri"/>
              </a:rPr>
              <a:t>The Quantum Advantage (Complexity Shift)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1D4ED8"/>
                </a:solidFill>
                <a:latin typeface="Calibri"/>
              </a:rPr>
              <a:t>  •  </a:t>
            </a:r>
            <a:r>
              <a:rPr sz="1019" b="1" i="0">
                <a:solidFill>
                  <a:srgbClr val="0F172A"/>
                </a:solidFill>
                <a:latin typeface="Calibri"/>
              </a:rPr>
              <a:t>Exponential to Polynomial Speedup: </a:t>
            </a:r>
            <a:r>
              <a:rPr sz="980" b="0" i="0">
                <a:solidFill>
                  <a:srgbClr val="1E293B"/>
                </a:solidFill>
                <a:latin typeface="Calibri"/>
              </a:rPr>
              <a:t>Classical General Number Field Sieve requires sub-exponential time O(exp(c·(ln N)^1/3)) to factor RSA moduli; Shor's algorithm achieves polynomial time O((log N)^3).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1D4ED8"/>
                </a:solidFill>
                <a:latin typeface="Calibri"/>
              </a:rPr>
              <a:t>  •  </a:t>
            </a:r>
            <a:r>
              <a:rPr sz="1019" b="1" i="0">
                <a:solidFill>
                  <a:srgbClr val="0F172A"/>
                </a:solidFill>
                <a:latin typeface="Calibri"/>
              </a:rPr>
              <a:t>Lattice Hardness Guarantee: </a:t>
            </a:r>
            <a:r>
              <a:rPr sz="980" b="0" i="0">
                <a:solidFill>
                  <a:srgbClr val="1E293B"/>
                </a:solidFill>
                <a:latin typeface="Calibri"/>
              </a:rPr>
              <a:t>QuantumShield utilizes Module-LWE (Learning With Errors), an NP-hard lattice problem resistant to both classical and quantum cryptanalysis.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Algorithm &amp; Circuit Design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Insert area"/>
          <p:cNvSpPr/>
          <p:nvPr/>
        </p:nvSpPr>
        <p:spPr>
          <a:xfrm>
            <a:off x="457200" y="1691640"/>
            <a:ext cx="4937760" cy="2926080"/>
          </a:xfrm>
          <a:prstGeom prst="roundRect">
            <a:avLst>
              <a:gd name="adj" fmla="val 2500"/>
            </a:avLst>
          </a:prstGeom>
          <a:solidFill>
            <a:srgbClr val="EEF0FE"/>
          </a:solidFill>
          <a:ln w="15875">
            <a:solidFill>
              <a:srgbClr val="7C93F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640080" y="187452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/>
        </p:txBody>
      </p:sp>
      <p:sp>
        <p:nvSpPr>
          <p:cNvPr id="8" name="Content card"/>
          <p:cNvSpPr/>
          <p:nvPr/>
        </p:nvSpPr>
        <p:spPr>
          <a:xfrm>
            <a:off x="5577840" y="1691640"/>
            <a:ext cx="310896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</p:sp>
      <p:sp>
        <p:nvSpPr>
          <p:cNvPr id="9" name="Card accent"/>
          <p:cNvSpPr/>
          <p:nvPr/>
        </p:nvSpPr>
        <p:spPr>
          <a:xfrm>
            <a:off x="5806440" y="1691640"/>
            <a:ext cx="822960" cy="54864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1810512"/>
            <a:ext cx="2926080" cy="2697480"/>
          </a:xfrm>
          <a:prstGeom prst="rect">
            <a:avLst/>
          </a:prstGeom>
          <a:noFill/>
          <a:ln/>
        </p:spPr>
        <p:txBody>
          <a:bodyPr wrap="square" lIns="73152" tIns="73152" rIns="73152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sz="1150" b="1" i="0">
                <a:solidFill>
                  <a:srgbClr val="1D4ED8"/>
                </a:solidFill>
                <a:latin typeface="Calibri"/>
              </a:rPr>
              <a:t>Circuit Architecture &amp; Math</a:t>
            </a:r>
            <a:endParaRPr lang="en-US" sz="1200" dirty="0"/>
          </a:p>
          <a:p>
            <a:pPr>
              <a:spcAft>
                <a:spcPts val="350"/>
              </a:spcAft>
            </a:pPr>
            <a:r>
              <a:rPr sz="980" b="1" i="0">
                <a:solidFill>
                  <a:srgbClr val="0F172A"/>
                </a:solidFill>
                <a:latin typeface="Calibri"/>
              </a:rPr>
              <a:t>• Algorithm: </a:t>
            </a:r>
            <a:r>
              <a:rPr sz="919" b="0" i="0">
                <a:solidFill>
                  <a:srgbClr val="1E293B"/>
                </a:solidFill>
                <a:latin typeface="Calibri"/>
              </a:rPr>
              <a:t>Shor's Quantum Period-Finding for N=15, base a=7</a:t>
            </a:r>
          </a:p>
          <a:p>
            <a:pPr>
              <a:spcAft>
                <a:spcPts val="350"/>
              </a:spcAft>
            </a:pPr>
            <a:r>
              <a:rPr sz="980" b="1" i="0">
                <a:solidFill>
                  <a:srgbClr val="0F172A"/>
                </a:solidFill>
                <a:latin typeface="Calibri"/>
              </a:rPr>
              <a:t>• Qubit Register: </a:t>
            </a:r>
            <a:r>
              <a:rPr sz="919" b="0" i="0">
                <a:solidFill>
                  <a:srgbClr val="1E293B"/>
                </a:solidFill>
                <a:latin typeface="Calibri"/>
              </a:rPr>
              <a:t>8 Qubits: 4 Counting (q0-q3) + 4 Target (q4-q7)</a:t>
            </a:r>
          </a:p>
          <a:p>
            <a:pPr>
              <a:spcAft>
                <a:spcPts val="350"/>
              </a:spcAft>
            </a:pPr>
            <a:r>
              <a:rPr sz="980" b="1" i="0">
                <a:solidFill>
                  <a:srgbClr val="0F172A"/>
                </a:solidFill>
                <a:latin typeface="Calibri"/>
              </a:rPr>
              <a:t>• Superposition: </a:t>
            </a:r>
            <a:r>
              <a:rPr sz="919" b="0" i="0">
                <a:solidFill>
                  <a:srgbClr val="1E293B"/>
                </a:solidFill>
                <a:latin typeface="Calibri"/>
              </a:rPr>
              <a:t>Hadamard gates H^⊗4 generate 2^4 = 16 states</a:t>
            </a:r>
          </a:p>
          <a:p>
            <a:pPr>
              <a:spcAft>
                <a:spcPts val="350"/>
              </a:spcAft>
            </a:pPr>
            <a:r>
              <a:rPr sz="980" b="1" i="0">
                <a:solidFill>
                  <a:srgbClr val="0F172A"/>
                </a:solidFill>
                <a:latin typeface="Calibri"/>
              </a:rPr>
              <a:t>• Mod Exponentiation: </a:t>
            </a:r>
            <a:r>
              <a:rPr sz="919" b="0" i="0">
                <a:solidFill>
                  <a:srgbClr val="1E293B"/>
                </a:solidFill>
                <a:latin typeface="Calibri"/>
              </a:rPr>
              <a:t>Controlled swap gates compute f(x) = 7^x mod 15</a:t>
            </a:r>
          </a:p>
          <a:p>
            <a:pPr>
              <a:spcAft>
                <a:spcPts val="350"/>
              </a:spcAft>
            </a:pPr>
            <a:r>
              <a:rPr sz="980" b="1" i="0">
                <a:solidFill>
                  <a:srgbClr val="0F172A"/>
                </a:solidFill>
                <a:latin typeface="Calibri"/>
              </a:rPr>
              <a:t>• Inverse QFT: </a:t>
            </a:r>
            <a:r>
              <a:rPr sz="919" b="0" i="0">
                <a:solidFill>
                  <a:srgbClr val="1E293B"/>
                </a:solidFill>
                <a:latin typeface="Calibri"/>
              </a:rPr>
              <a:t>4-qubit QFT† extracts phase into measurement basis</a:t>
            </a:r>
          </a:p>
          <a:p>
            <a:pPr>
              <a:spcAft>
                <a:spcPts val="350"/>
              </a:spcAft>
            </a:pPr>
            <a:r>
              <a:rPr sz="980" b="1" i="0">
                <a:solidFill>
                  <a:srgbClr val="0F172A"/>
                </a:solidFill>
                <a:latin typeface="Calibri"/>
              </a:rPr>
              <a:t>• Factor Extraction: </a:t>
            </a:r>
            <a:r>
              <a:rPr sz="919" b="0" i="0">
                <a:solidFill>
                  <a:srgbClr val="1E293B"/>
                </a:solidFill>
                <a:latin typeface="Calibri"/>
              </a:rPr>
              <a:t>Yields period r=4. Factors: gcd(7^2 ± 1, 15) → 3 and 5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5</a:t>
            </a:fld>
            <a:endParaRPr lang="en-US"/>
          </a:p>
        </p:txBody>
      </p:sp>
      <p:pic>
        <p:nvPicPr>
          <p:cNvPr id="26" name="Picture 25" descr="circuit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37360"/>
            <a:ext cx="4846320" cy="2834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Implementation &amp; Tech Stack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  <p:txBody>
          <a:bodyPr/>
          <a:p/>
        </p:txBody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  <p:txBody>
          <a:bodyPr/>
          <a:p/>
        </p:txBody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  <p:txBody>
          <a:bodyPr/>
          <a:p/>
        </p:txBody>
      </p:sp>
      <p:sp>
        <p:nvSpPr>
          <p:cNvPr id="6" name="Content card"/>
          <p:cNvSpPr/>
          <p:nvPr/>
        </p:nvSpPr>
        <p:spPr>
          <a:xfrm>
            <a:off x="457200" y="1691640"/>
            <a:ext cx="822960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  <p:txBody>
          <a:bodyPr/>
          <a:p/>
        </p:txBody>
      </p:sp>
      <p:sp>
        <p:nvSpPr>
          <p:cNvPr id="7" name="Card accent"/>
          <p:cNvSpPr/>
          <p:nvPr/>
        </p:nvSpPr>
        <p:spPr>
          <a:xfrm>
            <a:off x="685800" y="1691640"/>
            <a:ext cx="822960" cy="54864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7772400" cy="2697480"/>
          </a:xfrm>
          <a:prstGeom prst="rect">
            <a:avLst/>
          </a:prstGeom>
          <a:noFill/>
          <a:ln/>
        </p:spPr>
        <p:txBody>
          <a:bodyPr wrap="square" tIns="73152" bIns="73152" rtlCol="0" anchor="t"/>
          <a:lstStyle/>
          <a:p>
            <a:pPr marL="0" indent="0">
              <a:buNone/>
            </a:pPr>
            <a:endParaRPr lang="en-US" sz="1200" dirty="0"/>
          </a:p>
          <a:p>
            <a:pPr>
              <a:spcAft>
                <a:spcPts val="300"/>
              </a:spcAft>
            </a:pPr>
            <a:r>
              <a:rPr sz="1150" b="1" i="0">
                <a:solidFill>
                  <a:srgbClr val="1D4ED8"/>
                </a:solidFill>
                <a:latin typeface="Calibri"/>
              </a:rPr>
              <a:t>Quantum Computing Core (IBM Qiskit)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1D4ED8"/>
                </a:solidFill>
                <a:latin typeface="Calibri"/>
              </a:rPr>
              <a:t>  •  </a:t>
            </a:r>
            <a:r>
              <a:rPr sz="1019" b="1" i="0">
                <a:solidFill>
                  <a:srgbClr val="0F172A"/>
                </a:solidFill>
                <a:latin typeface="Calibri"/>
              </a:rPr>
              <a:t>Qiskit 1.4 &amp; Qiskit Aer: </a:t>
            </a:r>
            <a:r>
              <a:rPr sz="980" b="0" i="0">
                <a:solidFill>
                  <a:srgbClr val="1E293B"/>
                </a:solidFill>
                <a:latin typeface="Calibri"/>
              </a:rPr>
              <a:t>Quantum circuit synthesis, gate decomposition, and high-performance AerSimulator backend execution.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1D4ED8"/>
                </a:solidFill>
                <a:latin typeface="Calibri"/>
              </a:rPr>
              <a:t>  •  </a:t>
            </a:r>
            <a:r>
              <a:rPr sz="1019" b="1" i="0">
                <a:solidFill>
                  <a:srgbClr val="0F172A"/>
                </a:solidFill>
                <a:latin typeface="Calibri"/>
              </a:rPr>
              <a:t>IBM Heron Transpilation: </a:t>
            </a:r>
            <a:r>
              <a:rPr sz="980" b="0" i="0">
                <a:solidFill>
                  <a:srgbClr val="1E293B"/>
                </a:solidFill>
                <a:latin typeface="Calibri"/>
              </a:rPr>
              <a:t>Level-3 optimization to 58 circuit depth with 47 CZ entanglers and Qiskit Runtime SamplerV2 deployment ready.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1D4ED8"/>
                </a:solidFill>
                <a:latin typeface="Calibri"/>
              </a:rPr>
              <a:t>  •  </a:t>
            </a:r>
            <a:r>
              <a:rPr sz="1019" b="1" i="0">
                <a:solidFill>
                  <a:srgbClr val="0F172A"/>
                </a:solidFill>
                <a:latin typeface="Calibri"/>
              </a:rPr>
              <a:t>Mathematical Solvers: </a:t>
            </a:r>
            <a:r>
              <a:rPr sz="980" b="0" i="0">
                <a:solidFill>
                  <a:srgbClr val="1E293B"/>
                </a:solidFill>
                <a:latin typeface="Calibri"/>
              </a:rPr>
              <a:t>NumPy &amp; SciPy for matrix state-vector computations, modular arithmetic, and Euclidean GCD continued fractions.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300"/>
              </a:spcAft>
            </a:pPr>
            <a:r>
              <a:rPr sz="1150" b="1" i="0">
                <a:solidFill>
                  <a:srgbClr val="1D4ED8"/>
                </a:solidFill>
                <a:latin typeface="Calibri"/>
              </a:rPr>
              <a:t>Post-Quantum Cryptography &amp; Transport Security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1D4ED8"/>
                </a:solidFill>
                <a:latin typeface="Calibri"/>
              </a:rPr>
              <a:t>  •  </a:t>
            </a:r>
            <a:r>
              <a:rPr sz="1019" b="1" i="0">
                <a:solidFill>
                  <a:srgbClr val="0F172A"/>
                </a:solidFill>
                <a:latin typeface="Calibri"/>
              </a:rPr>
              <a:t>NIST FIPS 203 ML-KEM: </a:t>
            </a:r>
            <a:r>
              <a:rPr sz="980" b="0" i="0">
                <a:solidFill>
                  <a:srgbClr val="1E293B"/>
                </a:solidFill>
                <a:latin typeface="Calibri"/>
              </a:rPr>
              <a:t>Kyber-768 lattice-based Key Encapsulation Mechanism providing quantum-safe ephemeral key exchange.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1D4ED8"/>
                </a:solidFill>
                <a:latin typeface="Calibri"/>
              </a:rPr>
              <a:t>  •  </a:t>
            </a:r>
            <a:r>
              <a:rPr sz="1019" b="1" i="0">
                <a:solidFill>
                  <a:srgbClr val="0F172A"/>
                </a:solidFill>
                <a:latin typeface="Calibri"/>
              </a:rPr>
              <a:t>AES-256-GCM &amp; HKDF-SHA256: </a:t>
            </a:r>
            <a:r>
              <a:rPr sz="980" b="0" i="0">
                <a:solidFill>
                  <a:srgbClr val="1E293B"/>
                </a:solidFill>
                <a:latin typeface="Calibri"/>
              </a:rPr>
              <a:t>Hardware-accelerated authenticated symmetric encryption with RFC 5869 key derivation and 100% bit-flip tamper rejection.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300"/>
              </a:spcAft>
            </a:pPr>
            <a:r>
              <a:rPr sz="1150" b="1" i="0">
                <a:solidFill>
                  <a:srgbClr val="1D4ED8"/>
                </a:solidFill>
                <a:latin typeface="Calibri"/>
              </a:rPr>
              <a:t>Mobile Endpoint &amp; Transaction Analytics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1D4ED8"/>
                </a:solidFill>
                <a:latin typeface="Calibri"/>
              </a:rPr>
              <a:t>  •  </a:t>
            </a:r>
            <a:r>
              <a:rPr sz="1019" b="1" i="0">
                <a:solidFill>
                  <a:srgbClr val="0F172A"/>
                </a:solidFill>
                <a:latin typeface="Calibri"/>
              </a:rPr>
              <a:t>Androguard Static Parser: </a:t>
            </a:r>
            <a:r>
              <a:rPr sz="980" b="0" i="0">
                <a:solidFill>
                  <a:srgbClr val="1E293B"/>
                </a:solidFill>
                <a:latin typeface="Calibri"/>
              </a:rPr>
              <a:t>Decompiles and inspects AndroidManifest.xml files to detect SMS, Overlay, and Accessibility abuse vectors.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1D4ED8"/>
                </a:solidFill>
                <a:latin typeface="Calibri"/>
              </a:rPr>
              <a:t>  •  </a:t>
            </a:r>
            <a:r>
              <a:rPr sz="1019" b="1" i="0">
                <a:solidFill>
                  <a:srgbClr val="0F172A"/>
                </a:solidFill>
                <a:latin typeface="Calibri"/>
              </a:rPr>
              <a:t>Sliding Deque Velocity Checker: </a:t>
            </a:r>
            <a:r>
              <a:rPr sz="980" b="0" i="0">
                <a:solidFill>
                  <a:srgbClr val="1E293B"/>
                </a:solidFill>
                <a:latin typeface="Calibri"/>
              </a:rPr>
              <a:t>Low-latency in-memory tracker identifying automated multi-transaction burst frequencies.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300"/>
              </a:spcAft>
            </a:pPr>
            <a:r>
              <a:rPr sz="1150" b="1" i="0">
                <a:solidFill>
                  <a:srgbClr val="1D4ED8"/>
                </a:solidFill>
                <a:latin typeface="Calibri"/>
              </a:rPr>
              <a:t>Full-Stack Cloud &amp; Production Testing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1D4ED8"/>
                </a:solidFill>
                <a:latin typeface="Calibri"/>
              </a:rPr>
              <a:t>  •  </a:t>
            </a:r>
            <a:r>
              <a:rPr sz="1019" b="1" i="0">
                <a:solidFill>
                  <a:srgbClr val="0F172A"/>
                </a:solidFill>
                <a:latin typeface="Calibri"/>
              </a:rPr>
              <a:t>Streamlit Reactive Cloud: </a:t>
            </a:r>
            <a:r>
              <a:rPr sz="980" b="0" i="0">
                <a:solidFill>
                  <a:srgbClr val="1E293B"/>
                </a:solidFill>
                <a:latin typeface="Calibri"/>
              </a:rPr>
              <a:t>24/7 globally hosted dashboard with Three.js 3D threat globe; 80/80 passing pytest automated unit tests.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 &amp; Analysis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Insert area"/>
          <p:cNvSpPr/>
          <p:nvPr/>
        </p:nvSpPr>
        <p:spPr>
          <a:xfrm>
            <a:off x="457200" y="1691640"/>
            <a:ext cx="4937760" cy="2926080"/>
          </a:xfrm>
          <a:prstGeom prst="roundRect">
            <a:avLst>
              <a:gd name="adj" fmla="val 2500"/>
            </a:avLst>
          </a:prstGeom>
          <a:solidFill>
            <a:srgbClr val="EEF0FE"/>
          </a:solidFill>
          <a:ln w="15875">
            <a:solidFill>
              <a:srgbClr val="7C93F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640080" y="187452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/>
        </p:txBody>
      </p:sp>
      <p:sp>
        <p:nvSpPr>
          <p:cNvPr id="8" name="Content card"/>
          <p:cNvSpPr/>
          <p:nvPr/>
        </p:nvSpPr>
        <p:spPr>
          <a:xfrm>
            <a:off x="5577840" y="1691640"/>
            <a:ext cx="310896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</p:sp>
      <p:sp>
        <p:nvSpPr>
          <p:cNvPr id="9" name="Card accent"/>
          <p:cNvSpPr/>
          <p:nvPr/>
        </p:nvSpPr>
        <p:spPr>
          <a:xfrm>
            <a:off x="5806440" y="1691640"/>
            <a:ext cx="822960" cy="54864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1810512"/>
            <a:ext cx="2926080" cy="2697480"/>
          </a:xfrm>
          <a:prstGeom prst="rect">
            <a:avLst/>
          </a:prstGeom>
          <a:noFill/>
          <a:ln/>
        </p:spPr>
        <p:txBody>
          <a:bodyPr wrap="square" lIns="73152" tIns="73152" rIns="73152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sz="1150" b="1" i="0">
                <a:solidFill>
                  <a:srgbClr val="1D4ED8"/>
                </a:solidFill>
                <a:latin typeface="Calibri"/>
              </a:rPr>
              <a:t>Empirical Benchmarks &amp; Validation</a:t>
            </a:r>
            <a:endParaRPr lang="en-US" sz="1200" dirty="0"/>
          </a:p>
          <a:p>
            <a:pPr>
              <a:spcAft>
                <a:spcPts val="350"/>
              </a:spcAft>
            </a:pPr>
            <a:r>
              <a:rPr sz="980" b="1" i="0">
                <a:solidFill>
                  <a:srgbClr val="0F172A"/>
                </a:solidFill>
                <a:latin typeface="Calibri"/>
              </a:rPr>
              <a:t>✔ Period Recovery: </a:t>
            </a:r>
            <a:r>
              <a:rPr sz="919" b="0" i="0">
                <a:solidFill>
                  <a:srgbClr val="1E293B"/>
                </a:solidFill>
                <a:latin typeface="Calibri"/>
              </a:rPr>
              <a:t>100% success across 2048 shots; peaks at 0, 4, 8, 12 isolated r=4, factoring N=15 into 3 × 5.</a:t>
            </a:r>
          </a:p>
          <a:p>
            <a:pPr>
              <a:spcAft>
                <a:spcPts val="350"/>
              </a:spcAft>
            </a:pPr>
            <a:r>
              <a:rPr sz="980" b="1" i="0">
                <a:solidFill>
                  <a:srgbClr val="0F172A"/>
                </a:solidFill>
                <a:latin typeface="Calibri"/>
              </a:rPr>
              <a:t>✔ Handshake Latency: </a:t>
            </a:r>
            <a:r>
              <a:rPr sz="919" b="0" i="0">
                <a:solidFill>
                  <a:srgbClr val="1E293B"/>
                </a:solidFill>
                <a:latin typeface="Calibri"/>
              </a:rPr>
              <a:t>&lt; 1.8 milliseconds for keypair generation, encapsulation, and decapsulation—ready for mobile banking.</a:t>
            </a:r>
          </a:p>
          <a:p>
            <a:pPr>
              <a:spcAft>
                <a:spcPts val="350"/>
              </a:spcAft>
            </a:pPr>
            <a:r>
              <a:rPr sz="980" b="1" i="0">
                <a:solidFill>
                  <a:srgbClr val="0F172A"/>
                </a:solidFill>
                <a:latin typeface="Calibri"/>
              </a:rPr>
              <a:t>✔ Tamper Detection: </a:t>
            </a:r>
            <a:r>
              <a:rPr sz="919" b="0" i="0">
                <a:solidFill>
                  <a:srgbClr val="1E293B"/>
                </a:solidFill>
                <a:latin typeface="Calibri"/>
              </a:rPr>
              <a:t>100% bit-flip rejection via AES-256-GCM authentication tags preventing man-in-the-middle attacks.</a:t>
            </a:r>
          </a:p>
          <a:p>
            <a:pPr>
              <a:spcAft>
                <a:spcPts val="350"/>
              </a:spcAft>
            </a:pPr>
            <a:r>
              <a:rPr sz="980" b="1" i="0">
                <a:solidFill>
                  <a:srgbClr val="0F172A"/>
                </a:solidFill>
                <a:latin typeface="Calibri"/>
              </a:rPr>
              <a:t>✔ Test Pass Rate: </a:t>
            </a:r>
            <a:r>
              <a:rPr sz="919" b="0" i="0">
                <a:solidFill>
                  <a:srgbClr val="1E293B"/>
                </a:solidFill>
                <a:latin typeface="Calibri"/>
              </a:rPr>
              <a:t>82 out of 82 automated pytest unit tests passing with zero regressions across all modules.</a:t>
            </a:r>
          </a:p>
          <a:p>
            <a:pPr>
              <a:spcAft>
                <a:spcPts val="350"/>
              </a:spcAft>
            </a:pPr>
            <a:r>
              <a:rPr sz="980" b="1" i="0">
                <a:solidFill>
                  <a:srgbClr val="0F172A"/>
                </a:solidFill>
                <a:latin typeface="Calibri"/>
              </a:rPr>
              <a:t>✔ Low False-Positives: </a:t>
            </a:r>
            <a:r>
              <a:rPr sz="919" b="0" i="0">
                <a:solidFill>
                  <a:srgbClr val="1E293B"/>
                </a:solidFill>
                <a:latin typeface="Calibri"/>
              </a:rPr>
              <a:t>Accurately verified legitimate baseline apps while flagging high-risk SMS/overlay spyware.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7</a:t>
            </a:fld>
            <a:endParaRPr lang="en-US"/>
          </a:p>
        </p:txBody>
      </p:sp>
      <p:pic>
        <p:nvPicPr>
          <p:cNvPr id="26" name="Picture 25" descr="measurement_histo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37360"/>
            <a:ext cx="4846320" cy="2834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Impact &amp; Real-World Applications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  <p:txBody>
          <a:bodyPr/>
          <a:p/>
        </p:txBody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  <p:txBody>
          <a:bodyPr/>
          <a:p/>
        </p:txBody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  <p:txBody>
          <a:bodyPr/>
          <a:p/>
        </p:txBody>
      </p:sp>
      <p:sp>
        <p:nvSpPr>
          <p:cNvPr id="6" name="Content card"/>
          <p:cNvSpPr/>
          <p:nvPr/>
        </p:nvSpPr>
        <p:spPr>
          <a:xfrm>
            <a:off x="457200" y="1691640"/>
            <a:ext cx="822960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  <p:txBody>
          <a:bodyPr/>
          <a:p/>
        </p:txBody>
      </p:sp>
      <p:sp>
        <p:nvSpPr>
          <p:cNvPr id="7" name="Card accent"/>
          <p:cNvSpPr/>
          <p:nvPr/>
        </p:nvSpPr>
        <p:spPr>
          <a:xfrm>
            <a:off x="685800" y="1691640"/>
            <a:ext cx="822960" cy="54864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7772400" cy="2697480"/>
          </a:xfrm>
          <a:prstGeom prst="rect">
            <a:avLst/>
          </a:prstGeom>
          <a:noFill/>
          <a:ln/>
        </p:spPr>
        <p:txBody>
          <a:bodyPr wrap="square" tIns="73152" bIns="73152" rtlCol="0" anchor="t"/>
          <a:lstStyle/>
          <a:p>
            <a:pPr marL="0" indent="0">
              <a:buNone/>
            </a:pPr>
            <a:endParaRPr lang="en-US" sz="1200" dirty="0"/>
          </a:p>
          <a:p>
            <a:pPr>
              <a:spcAft>
                <a:spcPts val="300"/>
              </a:spcAft>
            </a:pPr>
            <a:r>
              <a:rPr sz="1150" b="1" i="0">
                <a:solidFill>
                  <a:srgbClr val="1D4ED8"/>
                </a:solidFill>
                <a:latin typeface="Calibri"/>
              </a:rPr>
              <a:t>Financial Institutions &amp; Digital Payment Gateways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1D4ED8"/>
                </a:solidFill>
                <a:latin typeface="Calibri"/>
              </a:rPr>
              <a:t>  •  </a:t>
            </a:r>
            <a:r>
              <a:rPr sz="1019" b="1" i="0">
                <a:solidFill>
                  <a:srgbClr val="0F172A"/>
                </a:solidFill>
                <a:latin typeface="Calibri"/>
              </a:rPr>
              <a:t>Harvest-Proof Interbank Settling: </a:t>
            </a:r>
            <a:r>
              <a:rPr sz="980" b="0" i="0">
                <a:solidFill>
                  <a:srgbClr val="1E293B"/>
                </a:solidFill>
                <a:latin typeface="Calibri"/>
              </a:rPr>
              <a:t>Shields RTGS, NEFT, and SWIFT cross-border transactions from hostile state-sponsored Harvest Now, Decrypt Later campaigns.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1D4ED8"/>
                </a:solidFill>
                <a:latin typeface="Calibri"/>
              </a:rPr>
              <a:t>  •  </a:t>
            </a:r>
            <a:r>
              <a:rPr sz="1019" b="1" i="0">
                <a:solidFill>
                  <a:srgbClr val="0F172A"/>
                </a:solidFill>
                <a:latin typeface="Calibri"/>
              </a:rPr>
              <a:t>Drop-In Hybrid TLS Transition: </a:t>
            </a:r>
            <a:r>
              <a:rPr sz="980" b="0" i="0">
                <a:solidFill>
                  <a:srgbClr val="1E293B"/>
                </a:solidFill>
                <a:latin typeface="Calibri"/>
              </a:rPr>
              <a:t>Enables banks to integrate post-quantum KEM handshakes into existing API bridges without rebuilding core banking ledgers.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1D4ED8"/>
                </a:solidFill>
                <a:latin typeface="Calibri"/>
              </a:rPr>
              <a:t>  •  </a:t>
            </a:r>
            <a:r>
              <a:rPr sz="1019" b="1" i="0">
                <a:solidFill>
                  <a:srgbClr val="0F172A"/>
                </a:solidFill>
                <a:latin typeface="Calibri"/>
              </a:rPr>
              <a:t>Regulatory Data Confidentiality: </a:t>
            </a:r>
            <a:r>
              <a:rPr sz="980" b="0" i="0">
                <a:solidFill>
                  <a:srgbClr val="1E293B"/>
                </a:solidFill>
                <a:latin typeface="Calibri"/>
              </a:rPr>
              <a:t>Guarantees that sensitive financial transaction archives remain unreadable for statutory 10-30 year retention periods.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300"/>
              </a:spcAft>
            </a:pPr>
            <a:r>
              <a:rPr sz="1150" b="1" i="0">
                <a:solidFill>
                  <a:srgbClr val="1D4ED8"/>
                </a:solidFill>
                <a:latin typeface="Calibri"/>
              </a:rPr>
              <a:t>Mobile Consumer Protection &amp; Anti-Fraud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1D4ED8"/>
                </a:solidFill>
                <a:latin typeface="Calibri"/>
              </a:rPr>
              <a:t>  •  </a:t>
            </a:r>
            <a:r>
              <a:rPr sz="1019" b="1" i="0">
                <a:solidFill>
                  <a:srgbClr val="0F172A"/>
                </a:solidFill>
                <a:latin typeface="Calibri"/>
              </a:rPr>
              <a:t>OTP &amp; Overlay Interception Shield: </a:t>
            </a:r>
            <a:r>
              <a:rPr sz="980" b="0" i="0">
                <a:solidFill>
                  <a:srgbClr val="1E293B"/>
                </a:solidFill>
                <a:latin typeface="Calibri"/>
              </a:rPr>
              <a:t>Protects retail banking users against credential theft from rogue utility/cashback APKs before funds leave accounts.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1D4ED8"/>
                </a:solidFill>
                <a:latin typeface="Calibri"/>
              </a:rPr>
              <a:t>  •  </a:t>
            </a:r>
            <a:r>
              <a:rPr sz="1019" b="1" i="0">
                <a:solidFill>
                  <a:srgbClr val="0F172A"/>
                </a:solidFill>
                <a:latin typeface="Calibri"/>
              </a:rPr>
              <a:t>Transparent Risk Narratives: </a:t>
            </a:r>
            <a:r>
              <a:rPr sz="980" b="0" i="0">
                <a:solidFill>
                  <a:srgbClr val="1E293B"/>
                </a:solidFill>
                <a:latin typeface="Calibri"/>
              </a:rPr>
              <a:t>Furnishes plain-language threat explanations to non-technical users explaining why sideloaded apps are dangerous.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300"/>
              </a:spcAft>
            </a:pPr>
            <a:r>
              <a:rPr sz="1150" b="1" i="0">
                <a:solidFill>
                  <a:srgbClr val="1D4ED8"/>
                </a:solidFill>
                <a:latin typeface="Calibri"/>
              </a:rPr>
              <a:t>National Security &amp; Compliance Roadmap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1D4ED8"/>
                </a:solidFill>
                <a:latin typeface="Calibri"/>
              </a:rPr>
              <a:t>  •  </a:t>
            </a:r>
            <a:r>
              <a:rPr sz="1019" b="1" i="0">
                <a:solidFill>
                  <a:srgbClr val="0F172A"/>
                </a:solidFill>
                <a:latin typeface="Calibri"/>
              </a:rPr>
              <a:t>NIST FIPS 203 Alignment: </a:t>
            </a:r>
            <a:r>
              <a:rPr sz="980" b="0" i="0">
                <a:solidFill>
                  <a:srgbClr val="1E293B"/>
                </a:solidFill>
                <a:latin typeface="Calibri"/>
              </a:rPr>
              <a:t>Implements official August 2024 post-quantum standards, positioning institutions ahead of global regulatory mandates.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1D4ED8"/>
                </a:solidFill>
                <a:latin typeface="Calibri"/>
              </a:rPr>
              <a:t>  •  </a:t>
            </a:r>
            <a:r>
              <a:rPr sz="1019" b="1" i="0">
                <a:solidFill>
                  <a:srgbClr val="0F172A"/>
                </a:solidFill>
                <a:latin typeface="Calibri"/>
              </a:rPr>
              <a:t>India National Quantum Mission: </a:t>
            </a:r>
            <a:r>
              <a:rPr sz="980" b="0" i="0">
                <a:solidFill>
                  <a:srgbClr val="1E293B"/>
                </a:solidFill>
                <a:latin typeface="Calibri"/>
              </a:rPr>
              <a:t>Provides a functional reference architecture supporting India's National Quantum Mission (NQM) cybersecurity goals.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Challenges &amp; Future Scope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  <p:txBody>
          <a:bodyPr/>
          <a:p/>
        </p:txBody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  <p:txBody>
          <a:bodyPr/>
          <a:p/>
        </p:txBody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  <p:txBody>
          <a:bodyPr/>
          <a:p/>
        </p:txBody>
      </p:sp>
      <p:sp>
        <p:nvSpPr>
          <p:cNvPr id="6" name="Content card"/>
          <p:cNvSpPr/>
          <p:nvPr/>
        </p:nvSpPr>
        <p:spPr>
          <a:xfrm>
            <a:off x="457200" y="1691640"/>
            <a:ext cx="822960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  <p:txBody>
          <a:bodyPr/>
          <a:p/>
        </p:txBody>
      </p:sp>
      <p:sp>
        <p:nvSpPr>
          <p:cNvPr id="7" name="Card accent"/>
          <p:cNvSpPr/>
          <p:nvPr/>
        </p:nvSpPr>
        <p:spPr>
          <a:xfrm>
            <a:off x="685800" y="1691640"/>
            <a:ext cx="822960" cy="54864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7772400" cy="2697480"/>
          </a:xfrm>
          <a:prstGeom prst="rect">
            <a:avLst/>
          </a:prstGeom>
          <a:noFill/>
          <a:ln/>
        </p:spPr>
        <p:txBody>
          <a:bodyPr wrap="square" tIns="73152" bIns="73152" rtlCol="0" anchor="t"/>
          <a:lstStyle/>
          <a:p>
            <a:pPr marL="0" indent="0">
              <a:buNone/>
            </a:pPr>
            <a:endParaRPr lang="en-US" sz="1200" dirty="0"/>
          </a:p>
          <a:p>
            <a:pPr>
              <a:spcAft>
                <a:spcPts val="300"/>
              </a:spcAft>
            </a:pPr>
            <a:r>
              <a:rPr sz="1150" b="1" i="0">
                <a:solidFill>
                  <a:srgbClr val="1D4ED8"/>
                </a:solidFill>
                <a:latin typeface="Calibri"/>
              </a:rPr>
              <a:t>Key Technical Challenges Addressed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1D4ED8"/>
                </a:solidFill>
                <a:latin typeface="Calibri"/>
              </a:rPr>
              <a:t>  •  </a:t>
            </a:r>
            <a:r>
              <a:rPr sz="1019" b="1" i="0">
                <a:solidFill>
                  <a:srgbClr val="0F172A"/>
                </a:solidFill>
                <a:latin typeface="Calibri"/>
              </a:rPr>
              <a:t>NISQ Coherence Limitations: </a:t>
            </a:r>
            <a:r>
              <a:rPr sz="980" b="0" i="0">
                <a:solidFill>
                  <a:srgbClr val="1E293B"/>
                </a:solidFill>
                <a:latin typeface="Calibri"/>
              </a:rPr>
              <a:t>Current quantum processors lack fault-tolerant physical qubits for large numbers; resolved via modular simulation verifying core period-finding mechanics.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1D4ED8"/>
                </a:solidFill>
                <a:latin typeface="Calibri"/>
              </a:rPr>
              <a:t>  •  </a:t>
            </a:r>
            <a:r>
              <a:rPr sz="1019" b="1" i="0">
                <a:solidFill>
                  <a:srgbClr val="0F172A"/>
                </a:solidFill>
                <a:latin typeface="Calibri"/>
              </a:rPr>
              <a:t>PQC Key Size Constraints: </a:t>
            </a:r>
            <a:r>
              <a:rPr sz="980" b="0" i="0">
                <a:solidFill>
                  <a:srgbClr val="1E293B"/>
                </a:solidFill>
                <a:latin typeface="Calibri"/>
              </a:rPr>
              <a:t>Lattice-based public keys are significantly larger than RSA/ECC; mitigated by decoupling key exchange from authenticated bulk payload streaming.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1D4ED8"/>
                </a:solidFill>
                <a:latin typeface="Calibri"/>
              </a:rPr>
              <a:t>  •  </a:t>
            </a:r>
            <a:r>
              <a:rPr sz="1019" b="1" i="0">
                <a:solidFill>
                  <a:srgbClr val="0F172A"/>
                </a:solidFill>
                <a:latin typeface="Calibri"/>
              </a:rPr>
              <a:t>Stealthy APK Obfuscation: </a:t>
            </a:r>
            <a:r>
              <a:rPr sz="980" b="0" i="0">
                <a:solidFill>
                  <a:srgbClr val="1E293B"/>
                </a:solidFill>
                <a:latin typeface="Calibri"/>
              </a:rPr>
              <a:t>Adversaries conceal malicious intent; counteracted by cross-layer correlation linking static APK permissions directly with dynamic transaction bursts.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300"/>
              </a:spcAft>
            </a:pPr>
            <a:r>
              <a:rPr sz="1150" b="1" i="0">
                <a:solidFill>
                  <a:srgbClr val="1D4ED8"/>
                </a:solidFill>
                <a:latin typeface="Calibri"/>
              </a:rPr>
              <a:t>Future Roadmap &amp; Expansion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1D4ED8"/>
                </a:solidFill>
                <a:latin typeface="Calibri"/>
              </a:rPr>
              <a:t>  •  </a:t>
            </a:r>
            <a:r>
              <a:rPr sz="1019" b="1" i="0">
                <a:solidFill>
                  <a:srgbClr val="0F172A"/>
                </a:solidFill>
                <a:latin typeface="Calibri"/>
              </a:rPr>
              <a:t>IBM Quantum Hardware Execution: </a:t>
            </a:r>
            <a:r>
              <a:rPr sz="980" b="0" i="0">
                <a:solidFill>
                  <a:srgbClr val="1E293B"/>
                </a:solidFill>
                <a:latin typeface="Calibri"/>
              </a:rPr>
              <a:t>Run Shor's circuits on IBM Quantum Eagle (127-qubit) and Heron (133-qubit) processors via Qiskit Runtime Sampler primitives.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1D4ED8"/>
                </a:solidFill>
                <a:latin typeface="Calibri"/>
              </a:rPr>
              <a:t>  •  </a:t>
            </a:r>
            <a:r>
              <a:rPr sz="1019" b="1" i="0">
                <a:solidFill>
                  <a:srgbClr val="0F172A"/>
                </a:solidFill>
                <a:latin typeface="Calibri"/>
              </a:rPr>
              <a:t>Dynamic Taint-Tracking Sandbox: </a:t>
            </a:r>
            <a:r>
              <a:rPr sz="980" b="0" i="0">
                <a:solidFill>
                  <a:srgbClr val="1E293B"/>
                </a:solidFill>
                <a:latin typeface="Calibri"/>
              </a:rPr>
              <a:t>Integrate automated Android container emulation with dynamic API hooking alongside static manifest extraction.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1D4ED8"/>
                </a:solidFill>
                <a:latin typeface="Calibri"/>
              </a:rPr>
              <a:t>  •  </a:t>
            </a:r>
            <a:r>
              <a:rPr sz="1019" b="1" i="0">
                <a:solidFill>
                  <a:srgbClr val="0F172A"/>
                </a:solidFill>
                <a:latin typeface="Calibri"/>
              </a:rPr>
              <a:t>Hybrid Graph Neural Networks (GNN): </a:t>
            </a:r>
            <a:r>
              <a:rPr sz="980" b="0" i="0">
                <a:solidFill>
                  <a:srgbClr val="1E293B"/>
                </a:solidFill>
                <a:latin typeface="Calibri"/>
              </a:rPr>
              <a:t>Deploy quantum-classical GNN models to identify multi-hop money laundering mule networks in real-time.</a:t>
            </a:r>
          </a:p>
          <a:p>
            <a:pPr>
              <a:spcAft>
                <a:spcPts val="400"/>
              </a:spcAft>
            </a:pPr>
            <a:r>
              <a:rPr sz="1000" b="1" i="0">
                <a:solidFill>
                  <a:srgbClr val="1D4ED8"/>
                </a:solidFill>
                <a:latin typeface="Calibri"/>
              </a:rPr>
              <a:t>  •  </a:t>
            </a:r>
            <a:r>
              <a:rPr sz="1019" b="1" i="0">
                <a:solidFill>
                  <a:srgbClr val="0F172A"/>
                </a:solidFill>
                <a:latin typeface="Calibri"/>
              </a:rPr>
              <a:t>Hardware Security Modules (HSM): </a:t>
            </a:r>
            <a:r>
              <a:rPr sz="980" b="0" i="0">
                <a:solidFill>
                  <a:srgbClr val="1E293B"/>
                </a:solidFill>
                <a:latin typeface="Calibri"/>
              </a:rPr>
              <a:t>Embed ML-KEM cryptographic primitives into dedicated banking hardware security modules.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914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E863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200" b="1" dirty="0">
                <a:solidFill>
                  <a:srgbClr val="2E1B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E8639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6F7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Inspiring Minds. Shaping Tomorrow.</a:t>
            </a:r>
            <a:endParaRPr lang="en-US" sz="1300" dirty="0"/>
          </a:p>
        </p:txBody>
      </p:sp>
      <p:sp>
        <p:nvSpPr>
          <p:cNvPr id="5" name="Field: GITHUB REPOSITORY"/>
          <p:cNvSpPr/>
          <p:nvPr/>
        </p:nvSpPr>
        <p:spPr>
          <a:xfrm>
            <a:off x="457200" y="3291840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  <a:endParaRPr lang="en-US" sz="900" dirty="0"/>
          </a:p>
          <a:p>
            <a:pPr marL="0" indent="0" algn="l">
              <a:buNone/>
            </a:pPr>
            <a:r>
              <a:rPr sz="1150" b="1" i="0">
                <a:solidFill>
                  <a:srgbClr val="0F172A"/>
                </a:solidFill>
                <a:latin typeface="Calibri"/>
              </a:rPr>
              <a:t>github.com/akhil96477/vtu-hc-srimedha</a:t>
            </a:r>
            <a:endParaRPr lang="en-US" sz="900" dirty="0"/>
          </a:p>
        </p:txBody>
      </p:sp>
      <p:sp>
        <p:nvSpPr>
          <p:cNvPr id="6" name="Field: DEMO VIDEO LINK"/>
          <p:cNvSpPr/>
          <p:nvPr/>
        </p:nvSpPr>
        <p:spPr>
          <a:xfrm>
            <a:off x="2834640" y="3291840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 LINK</a:t>
            </a:r>
            <a:endParaRPr lang="en-US" sz="900" dirty="0"/>
          </a:p>
          <a:p>
            <a:pPr marL="0" indent="0" algn="l">
              <a:buNone/>
            </a:pPr>
            <a:r>
              <a:rPr sz="1050" b="1" i="0">
                <a:solidFill>
                  <a:srgbClr val="0F172A"/>
                </a:solidFill>
                <a:latin typeface="Calibri"/>
              </a:rPr>
              <a:t>akhil96477-vtu-hc-srimedha...streamlit.app</a:t>
            </a:r>
            <a:endParaRPr lang="en-US" sz="900" dirty="0"/>
          </a:p>
        </p:txBody>
      </p:sp>
      <p:pic>
        <p:nvPicPr>
          <p:cNvPr id="7" name="Bloch sphere ring" descr="sphe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097280"/>
            <a:ext cx="3200400" cy="3200400"/>
          </a:xfrm>
          <a:prstGeom prst="rect">
            <a:avLst/>
          </a:prstGeom>
        </p:spPr>
      </p:pic>
      <p:pic>
        <p:nvPicPr>
          <p:cNvPr id="8" name="Image 1" descr="bir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914400"/>
            <a:ext cx="822960" cy="493776"/>
          </a:xfrm>
          <a:prstGeom prst="rect">
            <a:avLst/>
          </a:prstGeom>
        </p:spPr>
      </p:pic>
      <p:pic>
        <p:nvPicPr>
          <p:cNvPr id="9" name="Image 2" descr="bird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3840480"/>
            <a:ext cx="548640" cy="329184"/>
          </a:xfrm>
          <a:prstGeom prst="rect">
            <a:avLst/>
          </a:prstGeom>
        </p:spPr>
      </p:pic>
      <p:pic>
        <p:nvPicPr>
          <p:cNvPr id="10" name="Image 3" descr="bird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4023360"/>
            <a:ext cx="457200" cy="274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Qiskit Fall Fest">
  <a:themeElements>
    <a:clrScheme name="Qiskit Fall Fest">
      <a:dk1>
        <a:srgbClr val="2E1B5B"/>
      </a:dk1>
      <a:lt1>
        <a:srgbClr val="FFFFFF"/>
      </a:lt1>
      <a:dk2>
        <a:srgbClr val="4B2BA8"/>
      </a:dk2>
      <a:lt2>
        <a:srgbClr val="DDE2FC"/>
      </a:lt2>
      <a:accent1>
        <a:srgbClr val="E0558F"/>
      </a:accent1>
      <a:accent2>
        <a:srgbClr val="6B3FD4"/>
      </a:accent2>
      <a:accent3>
        <a:srgbClr val="F5C33B"/>
      </a:accent3>
      <a:accent4>
        <a:srgbClr val="3B82F6"/>
      </a:accent4>
      <a:accent5>
        <a:srgbClr val="7B58B8"/>
      </a:accent5>
      <a:accent6>
        <a:srgbClr val="2BB5A0"/>
      </a:accent6>
      <a:hlink>
        <a:srgbClr val="6B3FD4"/>
      </a:hlink>
      <a:folHlink>
        <a:srgbClr val="4B2BA8"/>
      </a:folHlink>
    </a:clrScheme>
    <a:fontScheme name="Qiskit Fall Fest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