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49240" y="1645920"/>
            <a:ext cx="6172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PROJECT TITLE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QuantumShield: Autonomous Post-Quantum Threat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49240" y="2468880"/>
            <a:ext cx="2971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TRACK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Quantum Cybersecurity &amp; FinTech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2468880"/>
            <a:ext cx="2971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TEAM NAME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Sri Medha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3246120"/>
            <a:ext cx="2971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TEAM LEADER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Davula Akhil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3246120"/>
            <a:ext cx="2971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EMAIL / CONTACT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akhildavula964@gmail.com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4023360"/>
            <a:ext cx="6172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TEAM MEMBERS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Davula Akhil  •  Team Sri Medha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4846320"/>
            <a:ext cx="35661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INSTITUTION / ORGANISATION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Visvesvaraya Technological University (VTU)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4846320"/>
            <a:ext cx="24231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COUNTRY</a:t>
            </a:r>
          </a:p>
          <a:p>
            <a:pPr>
              <a:defRPr sz="1300" b="1" i="0">
                <a:solidFill>
                  <a:srgbClr val="0F172A"/>
                </a:solidFill>
                <a:latin typeface="Arial"/>
              </a:defRPr>
            </a:pPr>
            <a:r>
              <a:t>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3474720" cy="3703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400"/>
              </a:spcAft>
              <a:defRPr sz="900" b="1" i="0">
                <a:solidFill>
                  <a:srgbClr val="1D4ED8"/>
                </a:solidFill>
                <a:latin typeface="Arial"/>
              </a:defRPr>
            </a:pPr>
            <a:r>
              <a:t>PROBLEM 01</a:t>
            </a:r>
          </a:p>
          <a:p>
            <a:pPr>
              <a:spcAft>
                <a:spcPts val="200"/>
              </a:spcAft>
              <a:defRPr sz="1350" b="1" i="0">
                <a:solidFill>
                  <a:srgbClr val="0F172A"/>
                </a:solidFill>
                <a:latin typeface="Arial"/>
              </a:defRPr>
            </a:pPr>
            <a:r>
              <a:t>Harvest Now, Decrypt Later (HNDL)</a:t>
            </a:r>
          </a:p>
          <a:p>
            <a:pPr>
              <a:spcAft>
                <a:spcPts val="1200"/>
              </a:spcAft>
              <a:defRPr sz="1000" b="0" i="1">
                <a:solidFill>
                  <a:srgbClr val="64748B"/>
                </a:solidFill>
                <a:latin typeface="Arial"/>
              </a:defRPr>
            </a:pPr>
            <a:r>
              <a:t>The Impending Quantum Breach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Adversaries intercept &amp; hoard encrypted banking traffic, UPI payloads, and SWIFT packets today.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Shor's Algorithm breaks RSA-2048 &amp; ECC in polynomial time once fault-tolerant quantum computers arrive.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All historical financial archives become vulnerable to retroactive mass decryption.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992" y="2423160"/>
            <a:ext cx="3474720" cy="3703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400"/>
              </a:spcAft>
              <a:defRPr sz="900" b="1" i="0">
                <a:solidFill>
                  <a:srgbClr val="1D4ED8"/>
                </a:solidFill>
                <a:latin typeface="Arial"/>
              </a:defRPr>
            </a:pPr>
            <a:r>
              <a:t>PROBLEM 02</a:t>
            </a:r>
          </a:p>
          <a:p>
            <a:pPr>
              <a:spcAft>
                <a:spcPts val="200"/>
              </a:spcAft>
              <a:defRPr sz="1350" b="1" i="0">
                <a:solidFill>
                  <a:srgbClr val="0F172A"/>
                </a:solidFill>
                <a:latin typeface="Arial"/>
              </a:defRPr>
            </a:pPr>
            <a:r>
              <a:t>Mobile APK Weaponization</a:t>
            </a:r>
          </a:p>
          <a:p>
            <a:pPr>
              <a:spcAft>
                <a:spcPts val="1200"/>
              </a:spcAft>
              <a:defRPr sz="1000" b="0" i="1">
                <a:solidFill>
                  <a:srgbClr val="64748B"/>
                </a:solidFill>
                <a:latin typeface="Arial"/>
              </a:defRPr>
            </a:pPr>
            <a:r>
              <a:t>Direct Endpoint Exploitation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Fake 'cashback' and utility APKs distributed via sideloading and rogue app stores.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Silently acquire critical permissions: READ_SMS, RECEIVE_SMS to harvest OTPs in real-time.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Abuse SYSTEM_ALERT_WINDOW for invisible overlay attacks on legitimate banking apps.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38744" y="2423160"/>
            <a:ext cx="3474720" cy="3703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400"/>
              </a:spcAft>
              <a:defRPr sz="900" b="1" i="0">
                <a:solidFill>
                  <a:srgbClr val="1D4ED8"/>
                </a:solidFill>
                <a:latin typeface="Arial"/>
              </a:defRPr>
            </a:pPr>
            <a:r>
              <a:t>PROBLEM 03</a:t>
            </a:r>
          </a:p>
          <a:p>
            <a:pPr>
              <a:spcAft>
                <a:spcPts val="200"/>
              </a:spcAft>
              <a:defRPr sz="1350" b="1" i="0">
                <a:solidFill>
                  <a:srgbClr val="0F172A"/>
                </a:solidFill>
                <a:latin typeface="Arial"/>
              </a:defRPr>
            </a:pPr>
            <a:r>
              <a:t>Fragmented Threat Silos</a:t>
            </a:r>
          </a:p>
          <a:p>
            <a:pPr>
              <a:spcAft>
                <a:spcPts val="1200"/>
              </a:spcAft>
              <a:defRPr sz="1000" b="0" i="1">
                <a:solidFill>
                  <a:srgbClr val="64748B"/>
                </a:solidFill>
                <a:latin typeface="Arial"/>
              </a:defRPr>
            </a:pPr>
            <a:r>
              <a:t>The Detection Blindspot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Endpoint risk (compromised APKs) is isolated from core transaction processing engines.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Rapid-burst micro-transactions at odd hours (12 AM – 5 AM) evade static legacy rule filters.</a:t>
            </a:r>
          </a:p>
          <a:p>
            <a:pPr>
              <a:spcAft>
                <a:spcPts val="800"/>
              </a:spcAft>
              <a:defRPr sz="1050" b="0" i="0">
                <a:solidFill>
                  <a:srgbClr val="1E293B"/>
                </a:solidFill>
                <a:latin typeface="Arial"/>
              </a:defRPr>
            </a:pPr>
            <a:r>
              <a:t>•  Lack of unified risk intelligence allows automated account-draining campaigns to succeed.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5212080" cy="3703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400"/>
              </a:spcAft>
              <a:defRPr sz="1300" b="1" i="0">
                <a:solidFill>
                  <a:srgbClr val="1D4ED8"/>
                </a:solidFill>
                <a:latin typeface="Arial"/>
              </a:defRPr>
            </a:pPr>
            <a:r>
              <a:t>CORE PROJECT OBJECTIVES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✓  End-to-End Threat Defense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Bridge quantum computing risk awareness, mobile APK permission auditing, and banking transaction fraud engines into a cohesive intelligence pipeline.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✓  NIST Post-Quantum Cryptography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Implement FIPS 203 ML-KEM (Kyber-768) key encapsulation paired with AES-256-GCM to establish quantum-resilient communications.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✓  Quantum Circuit Demonstration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Simulate Shor's algorithm for N=15 using Qiskit 1.4, empirically verifying how quantum period-finding breaks prime factorization.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✓  Automated Threat Orchestration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Deliver real-time automated mitigation (BLOCK, STEP-UP KYC, ALLOW) before fraudulent funds leave the banking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423160"/>
            <a:ext cx="5212080" cy="3703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400"/>
              </a:spcAft>
              <a:defRPr sz="1300" b="1" i="0">
                <a:solidFill>
                  <a:srgbClr val="0D9488"/>
                </a:solidFill>
                <a:latin typeface="Arial"/>
              </a:defRPr>
            </a:pPr>
            <a:r>
              <a:t>KEY NOVELTY &amp; INNOVATION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★  Cross-Layer Unified Threat Aggregator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First-of-its-kind dynamic mathematical scoring matrix combining static mobile permissions (40% weight) with live transaction velocity anomalies (60% weight).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★  Dual-Layer Quantum-Safe Hybrid Vault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Seamlessly integrates lattice-based KEM with authenticated Galois/Counter Mode (AES-256-GCM) with 100% cryptographic tamper rejection.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★  Real-Time Sliding Deque Velocity Tracker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Low-latency micro-window algorithm detecting automated bot-driven burst drains under 60-second time thresholds.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★  Production-Ready Verified Quality</a:t>
            </a:r>
          </a:p>
          <a:p>
            <a:pPr>
              <a:spcAft>
                <a:spcPts val="800"/>
              </a:spcAft>
              <a:defRPr sz="980" b="0" i="0">
                <a:solidFill>
                  <a:srgbClr val="1E293B"/>
                </a:solidFill>
                <a:latin typeface="Arial"/>
              </a:defRPr>
            </a:pPr>
            <a:r>
              <a:t>Comprehensive test suite with 80/80 passing unit tests verifying mathematical guarantees across every single component.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6858000" cy="7863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LAYER 1: ENDPOINT AUDIT</a:t>
            </a:r>
          </a:p>
          <a:p>
            <a:pPr>
              <a:defRPr sz="950" b="0" i="0">
                <a:solidFill>
                  <a:srgbClr val="1E293B"/>
                </a:solidFill>
                <a:latin typeface="Arial"/>
              </a:defRPr>
            </a:pPr>
            <a:r>
              <a:t>Static manifest parser categorizing permissions into CRITICAL (SMS, Overlays), HIGH, and MEDIUM risk categories. Calculates 0-10 APK threat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319272"/>
            <a:ext cx="6858000" cy="7863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LAYER 2: TRANSACTION RISK</a:t>
            </a:r>
          </a:p>
          <a:p>
            <a:pPr>
              <a:defRPr sz="950" b="0" i="0">
                <a:solidFill>
                  <a:srgbClr val="1E293B"/>
                </a:solidFill>
                <a:latin typeface="Arial"/>
              </a:defRPr>
            </a:pPr>
            <a:r>
              <a:t>Analyzes transfer volume, odd-hour activity (12 AM–5 AM), burst velocity trackers, and customer heuristics to assign granular transaction risk 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15383"/>
            <a:ext cx="6858000" cy="7863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LAYER 3: QUANTUM DEFENSE</a:t>
            </a:r>
          </a:p>
          <a:p>
            <a:pPr>
              <a:defRPr sz="950" b="0" i="0">
                <a:solidFill>
                  <a:srgbClr val="1E293B"/>
                </a:solidFill>
                <a:latin typeface="Arial"/>
              </a:defRPr>
            </a:pPr>
            <a:r>
              <a:t>FIPS 203 ML-KEM key encapsulation deriving 256-bit symmetric keys via HKDF-SHA256, sealed with AES-256-GCM authenticated encryption.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11496"/>
            <a:ext cx="6858000" cy="7863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LAYER 4: THREAT MATRIX</a:t>
            </a:r>
          </a:p>
          <a:p>
            <a:pPr>
              <a:defRPr sz="950" b="0" i="0">
                <a:solidFill>
                  <a:srgbClr val="1E293B"/>
                </a:solidFill>
                <a:latin typeface="Arial"/>
              </a:defRPr>
            </a:pPr>
            <a:r>
              <a:t>Synthesizes multi-vector telemetry into a single actionable incident report with automated defensive actions (BLOCK / STEP-UP 2FA / MONITOR).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2423160"/>
            <a:ext cx="3520440" cy="37033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250" b="1" i="0">
                <a:solidFill>
                  <a:srgbClr val="4338CA"/>
                </a:solidFill>
                <a:latin typeface="Arial"/>
              </a:defRPr>
            </a:pPr>
            <a:r>
              <a:t>THE QUANTUM ADVANTAGE</a:t>
            </a:r>
          </a:p>
          <a:p>
            <a:pPr>
              <a:defRPr sz="1050" b="1" i="0">
                <a:solidFill>
                  <a:srgbClr val="0F172A"/>
                </a:solidFill>
                <a:latin typeface="Arial"/>
              </a:defRPr>
            </a:pPr>
            <a:r>
              <a:t>⚡  Exponential Complexity Shift</a:t>
            </a:r>
          </a:p>
          <a:p>
            <a:pPr>
              <a:spcAft>
                <a:spcPts val="8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Classical factoring (Number Field Sieve) runs in sub-exponential time O(exp(c·(ln N)^1/3)). Shor's algorithm scales in polynomial time O((log N)^3), destroying RSA-2048 security.</a:t>
            </a:r>
          </a:p>
          <a:p>
            <a:pPr>
              <a:defRPr sz="1050" b="1" i="0">
                <a:solidFill>
                  <a:srgbClr val="0F172A"/>
                </a:solidFill>
                <a:latin typeface="Arial"/>
              </a:defRPr>
            </a:pPr>
            <a:r>
              <a:t>⚡  Lattice-Based Post-Quantum Barrier</a:t>
            </a:r>
          </a:p>
          <a:p>
            <a:pPr>
              <a:spcAft>
                <a:spcPts val="8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QuantumShield utilizes ML-KEM based on the Module Learning with Errors (M-LWE) problem, mathematically proven hard for both classical and quantum computers.</a:t>
            </a:r>
          </a:p>
          <a:p>
            <a:pPr>
              <a:defRPr sz="1050" b="1" i="0">
                <a:solidFill>
                  <a:srgbClr val="0F172A"/>
                </a:solidFill>
                <a:latin typeface="Arial"/>
              </a:defRPr>
            </a:pPr>
            <a:r>
              <a:t>⚡  Proactive Harvest-Proofing</a:t>
            </a:r>
          </a:p>
          <a:p>
            <a:pPr>
              <a:spcAft>
                <a:spcPts val="8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Transitioning banking transport to PQC today guarantees intercepted traffic remains completely unreadable even when cryptanalytically relevant quantum computers (CRQC) emerge.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ircuit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86000"/>
            <a:ext cx="6720840" cy="39776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43800" y="2286000"/>
            <a:ext cx="3977639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200" b="1" i="0">
                <a:solidFill>
                  <a:srgbClr val="1D4ED8"/>
                </a:solidFill>
                <a:latin typeface="Arial"/>
              </a:defRPr>
            </a:pPr>
            <a:r>
              <a:t>CIRCUIT ARCHITECTURE &amp; MATH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Shor's Quantum Period-Finding for N=15, a=7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8 Total Qubits: 4 Counting (q0-q3) + 4 Target (q4-q7)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Hadamard gates create 2^4 = 16 simultaneous states |x⟩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Controlled swap/multiply gates execute f(x) = 7^x mod 15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Transforms periodic phase shifts into measurable computational basis states</a:t>
            </a:r>
          </a:p>
          <a:p>
            <a:pPr>
              <a:spcAft>
                <a:spcPts val="500"/>
              </a:spcAft>
              <a:defRPr sz="919" b="0" i="0">
                <a:solidFill>
                  <a:srgbClr val="1E293B"/>
                </a:solidFill>
                <a:latin typeface="Arial"/>
              </a:defRPr>
            </a:pPr>
            <a:r>
              <a:t>Measurement yields period r=4. Factors computed via gcd(a^(r/2) ± 1, N) = gcd(7^2 ± 1, 15) → 3 and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2578608" cy="3703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🔬  QUANTUM CORE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Qiskit 1.4.x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Quantum circuit synthesis, registers, &amp; gate operations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Qiskit Aer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High-performance C++ simulator (AerSimulator)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NumPy &amp; SciPy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Modular arithmetic &amp; matrix state vector computation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Period Extractor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Continued fractions &amp; Euclidean GCD factor finder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57016" y="2423160"/>
            <a:ext cx="2578608" cy="3703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🛡️  POST-QUANTUM CRYPTO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ML-KEM / Kyber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NIST FIPS 203 Key Encapsulation Mechanism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AES-256-GCM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Hardware-accelerated authenticated payload encryption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HKDF-SHA256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RFC 5869 HMAC-based key derivation function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Tamper Shield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Cryptographic MAC tag verification with 100% rejection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6792" y="2423160"/>
            <a:ext cx="2578608" cy="3703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📱  MOBILE &amp; THREAT ENGINE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Androguard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Static Android Manifest parser &amp; permission extractor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Threat Matrix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Ruleset for SMS, Overlays, and Accessibility abuse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Sliding Deque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High-speed in-memory transaction burst velocity tracker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Incident Generator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Automated threat narrative &amp; mitigation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16568" y="2423160"/>
            <a:ext cx="2578608" cy="37033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⚡  FULL-STACK &amp; CLOUD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Streamlit Cloud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24/7 global interactive reactive dashboard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Three.js &amp; Canvas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Cinematic 3D cyber threat globe visualization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Pytest Suite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80/80 automated passing unit test cases</a:t>
            </a:r>
          </a:p>
          <a:p>
            <a:pPr>
              <a:defRPr sz="1000" b="1" i="0">
                <a:solidFill>
                  <a:srgbClr val="1D4ED8"/>
                </a:solidFill>
                <a:latin typeface="Arial"/>
              </a:defRPr>
            </a:pPr>
            <a:r>
              <a:t>• GitHub Actions</a:t>
            </a:r>
          </a:p>
          <a:p>
            <a:pPr>
              <a:spcAft>
                <a:spcPts val="600"/>
              </a:spcAft>
              <a:defRPr sz="880" b="0" i="0">
                <a:solidFill>
                  <a:srgbClr val="1E293B"/>
                </a:solidFill>
                <a:latin typeface="Arial"/>
              </a:defRPr>
            </a:pPr>
            <a:r>
              <a:t>Continuous integration and verified multi-remote repo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measurement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86000"/>
            <a:ext cx="6720840" cy="39776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43800" y="2286000"/>
            <a:ext cx="3977639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200" b="1" i="0">
                <a:solidFill>
                  <a:srgbClr val="1D4ED8"/>
                </a:solidFill>
                <a:latin typeface="Arial"/>
              </a:defRPr>
            </a:pPr>
            <a:r>
              <a:t>EMPIRICAL BENCHMARKS &amp; AUDIT</a:t>
            </a:r>
          </a:p>
          <a:p>
            <a:pPr>
              <a:defRPr sz="980" b="1" i="0">
                <a:solidFill>
                  <a:srgbClr val="0F172A"/>
                </a:solidFill>
                <a:latin typeface="Arial"/>
              </a:defRPr>
            </a:pPr>
            <a:r>
              <a:t>✔  Quantum Factoring Accuracy:</a:t>
            </a:r>
          </a:p>
          <a:p>
            <a:pPr>
              <a:spcAft>
                <a:spcPts val="500"/>
              </a:spcAft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100% success rate across 2048 shots; cleanly isolated period r=4 at states 0, 4, 8, 12, recovering prime factors {3, 5}.</a:t>
            </a:r>
          </a:p>
          <a:p>
            <a:pPr>
              <a:defRPr sz="980" b="1" i="0">
                <a:solidFill>
                  <a:srgbClr val="0F172A"/>
                </a:solidFill>
                <a:latin typeface="Arial"/>
              </a:defRPr>
            </a:pPr>
            <a:r>
              <a:t>✔  PQC Handshake Latency:</a:t>
            </a:r>
          </a:p>
          <a:p>
            <a:pPr>
              <a:spcAft>
                <a:spcPts val="500"/>
              </a:spcAft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&lt; 1.8 milliseconds for keypair generation, encapsulation, and decapsulation—fully viable for mobile banking protocols.</a:t>
            </a:r>
          </a:p>
          <a:p>
            <a:pPr>
              <a:defRPr sz="980" b="1" i="0">
                <a:solidFill>
                  <a:srgbClr val="0F172A"/>
                </a:solidFill>
                <a:latin typeface="Arial"/>
              </a:defRPr>
            </a:pPr>
            <a:r>
              <a:t>✔  Tamper Detection Rate:</a:t>
            </a:r>
          </a:p>
          <a:p>
            <a:pPr>
              <a:spcAft>
                <a:spcPts val="500"/>
              </a:spcAft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100% rejection across all bit-flip corruption tests via AES-256-GCM authentication tags.</a:t>
            </a:r>
          </a:p>
          <a:p>
            <a:pPr>
              <a:defRPr sz="980" b="1" i="0">
                <a:solidFill>
                  <a:srgbClr val="0F172A"/>
                </a:solidFill>
                <a:latin typeface="Arial"/>
              </a:defRPr>
            </a:pPr>
            <a:r>
              <a:t>✔  Test Suite Validation:</a:t>
            </a:r>
          </a:p>
          <a:p>
            <a:pPr>
              <a:spcAft>
                <a:spcPts val="500"/>
              </a:spcAft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80 out of 80 automated pytest unit tests passing with zero regressions across all core subsystems.</a:t>
            </a:r>
          </a:p>
          <a:p>
            <a:pPr>
              <a:defRPr sz="980" b="1" i="0">
                <a:solidFill>
                  <a:srgbClr val="0F172A"/>
                </a:solidFill>
                <a:latin typeface="Arial"/>
              </a:defRPr>
            </a:pPr>
            <a:r>
              <a:t>✔  Zero False-Positives on Clean Apps:</a:t>
            </a:r>
          </a:p>
          <a:p>
            <a:pPr>
              <a:spcAft>
                <a:spcPts val="500"/>
              </a:spcAft>
              <a:defRPr sz="900" b="0" i="0">
                <a:solidFill>
                  <a:srgbClr val="1E293B"/>
                </a:solidFill>
                <a:latin typeface="Arial"/>
              </a:defRPr>
            </a:pPr>
            <a:r>
              <a:t>Accurately verified legitimate apps while flagging dangerous overlay and SMS-hijacking spyware.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3474720" cy="3703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🏦  FINANCIAL INSTITUTIONS &amp; UPI NETWORKS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Shields interbank clearing, RTGS, and cross-border SWIFT financial transactions from Harvest Now, Decrypt Later (HNDL) nation-state espionage.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Enables seamless drop-in post-quantum hybrid TLS handshakes without requiring complete core banking infrastructure overhauls.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Guarantees that transactional records remain confidential for decades, fulfilling statutory regulatory data-retention laws.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992" y="2423160"/>
            <a:ext cx="3474720" cy="37033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🛡️  MOBILE BANKING &amp; CONSUMER PROTECTION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Protects millions of everyday smartphone banking users against insidious fake 'cashback' and utility malware.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Detects and neutralizes automated SMS OTP theft and screen overlay phishing attacks before illicit fund transfers are authorized.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Provides explainable threat risk scores to help non-technical users understand why a suspicious sideloaded app is dangerous.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38744" y="2423160"/>
            <a:ext cx="3474720" cy="370332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200"/>
              </a:spcAft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⚖️  REGULATORY &amp; NATIONAL SECURITY COMPLIANCE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Directly implements NIST FIPS 203 (ML-KEM) post-quantum standards published in August 2024, keeping institutions ahead of global compliance mandates.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Furnishes Security Operations Centers (SOCs) with audit-ready JSON telemetry and automated incident response narratives.</a:t>
            </a:r>
          </a:p>
          <a:p>
            <a:pPr>
              <a:spcAft>
                <a:spcPts val="800"/>
              </a:spcAft>
              <a:defRPr sz="1019" b="0" i="0">
                <a:solidFill>
                  <a:srgbClr val="1E293B"/>
                </a:solidFill>
                <a:latin typeface="Arial"/>
              </a:defRPr>
            </a:pPr>
            <a:r>
              <a:t>•  Provides a blueprint for India's National Quantum Mission (NQM) cybersecurity and financial resilience initiatives.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" y="2249424"/>
            <a:ext cx="1097280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423160"/>
            <a:ext cx="5212080" cy="3703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200"/>
              </a:spcAft>
              <a:defRPr sz="1300" b="1" i="0">
                <a:solidFill>
                  <a:srgbClr val="B91C1C"/>
                </a:solidFill>
                <a:latin typeface="Arial"/>
              </a:defRPr>
            </a:pPr>
            <a:r>
              <a:t>CHALLENGES OVERCOME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⚡  NISQ Coherence &amp; Noise Limits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Physical quantum hardware lacks error-corrected qubits for large N. Overcome by designing an optimized modular circuit simulator verifying the core period-finding mechanics.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⚡  PQC Mobile Bandwidth Constraints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Lattice-based public keys and ciphertexts are substantially larger than RSA/ECC. Solved by decoupling key encapsulation from authenticated bulk payload streaming.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⚡  Dynamic Evasion in Sideloaded APKs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Obfuscated malware often conceals sensitive intent. Countered by multi-factor correlation linking static APK permissions directly with dynamic transaction bursts.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423160"/>
            <a:ext cx="5212080" cy="3703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200"/>
              </a:spcAft>
              <a:defRPr sz="1300" b="1" i="0">
                <a:solidFill>
                  <a:srgbClr val="1D4ED8"/>
                </a:solidFill>
                <a:latin typeface="Arial"/>
              </a:defRPr>
            </a:pPr>
            <a:r>
              <a:t>FUTURE ROADMAP &amp; EXPANSION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🚀  Real Hardware QPU Execution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Execute period-finding circuits on IBM Quantum Eagle (127-qubit) and Heron (133-qubit) processors via Qiskit Runtime Sampler primitives.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🚀  Dynamic Taint Tracking Sandbox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Integrate an automated Android container emulator for dynamic API hooking alongside static manifest extraction.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🚀  Graph Neural Network (GNN) Risk Scoring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Deploy quantum-classical hybrid GNN models to detect multi-account money mule laundering rings in real-time.</a:t>
            </a:r>
          </a:p>
          <a:p>
            <a:pPr>
              <a:defRPr sz="1080" b="1" i="0">
                <a:solidFill>
                  <a:srgbClr val="0F172A"/>
                </a:solidFill>
                <a:latin typeface="Arial"/>
              </a:defRPr>
            </a:pPr>
            <a:r>
              <a:t>🚀  Hardware Security Module (HSM) Integration</a:t>
            </a:r>
          </a:p>
          <a:p>
            <a:pPr>
              <a:spcAft>
                <a:spcPts val="800"/>
              </a:spcAft>
              <a:defRPr sz="960" b="0" i="0">
                <a:solidFill>
                  <a:srgbClr val="1E293B"/>
                </a:solidFill>
                <a:latin typeface="Arial"/>
              </a:defRPr>
            </a:pPr>
            <a:r>
              <a:t>Package the ML-KEM cryptographic primitives into tamper-resistant hardware security modules for core banking servers.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94360" y="5870448"/>
            <a:ext cx="31089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GITHUB REPOSITORY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github.com/akhil96477/vtu-hc-srimedha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5870448"/>
            <a:ext cx="310896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spcAft>
                <a:spcPts val="200"/>
              </a:spcAft>
              <a:defRPr sz="850" b="1" i="0">
                <a:solidFill>
                  <a:srgbClr val="1D4ED8"/>
                </a:solidFill>
                <a:latin typeface="Arial"/>
              </a:defRPr>
            </a:pPr>
            <a:r>
              <a:t>DEMO VIDEO / LIVE APP</a:t>
            </a:r>
          </a:p>
          <a:p>
            <a:pPr>
              <a:defRPr sz="1100" b="1" i="0">
                <a:solidFill>
                  <a:srgbClr val="0F172A"/>
                </a:solidFill>
                <a:latin typeface="Arial"/>
              </a:defRPr>
            </a:pPr>
            <a:r>
              <a:t>akhil96477-vtu-hc-srimedha...streamlit.app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